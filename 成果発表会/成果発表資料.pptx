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1_2E54E52.xml" ContentType="application/vnd.ms-powerpoint.comments+xml"/>
  <Override PartName="/ppt/notesSlides/notesSlide3.xml" ContentType="application/vnd.openxmlformats-officedocument.presentationml.notesSlide+xml"/>
  <Override PartName="/ppt/comments/modernComment_11E_FD991EC6.xml" ContentType="application/vnd.ms-powerpoint.comment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89" r:id="rId6"/>
    <p:sldId id="284" r:id="rId7"/>
    <p:sldId id="286" r:id="rId8"/>
    <p:sldId id="290" r:id="rId9"/>
    <p:sldId id="277" r:id="rId10"/>
    <p:sldId id="291" r:id="rId11"/>
    <p:sldId id="266" r:id="rId12"/>
    <p:sldId id="271" r:id="rId13"/>
    <p:sldId id="267" r:id="rId14"/>
    <p:sldId id="272" r:id="rId15"/>
    <p:sldId id="273" r:id="rId16"/>
    <p:sldId id="274" r:id="rId17"/>
    <p:sldId id="275" r:id="rId18"/>
    <p:sldId id="261" r:id="rId19"/>
    <p:sldId id="264" r:id="rId20"/>
    <p:sldId id="269" r:id="rId21"/>
    <p:sldId id="288" r:id="rId22"/>
    <p:sldId id="287" r:id="rId23"/>
    <p:sldId id="263" r:id="rId24"/>
    <p:sldId id="282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6ABA2-5E2D-8E6E-F75B-11E40BEBDAEE}" name="KANDA Miwa(神田 美和)" initials="K美" userId="S::miwa.kanda@avantcorp.com::8fe020b5-3704-4f46-a70f-326357387a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2620"/>
    <a:srgbClr val="E4716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F0BA-3FB7-C9FA-2080-4641F67D71FB}" v="366" dt="2025-07-30T08:49:35.998"/>
    <p1510:client id="{188F7952-F94C-D4CE-5D50-91C82B37215B}" v="9" dt="2025-07-31T00:10:21.575"/>
    <p1510:client id="{3AFD3E4A-BA72-460F-811D-2E13CAAB60ED}" v="672" dt="2025-07-31T03:41:21.426"/>
    <p1510:client id="{4989E3B8-DFA1-1769-FEBE-45502DD08B1B}" v="491" dt="2025-07-30T07:16:13.962"/>
    <p1510:client id="{521F6A25-B42A-ADEE-0D08-4DC4FF15F51B}" v="485" dt="2025-07-30T09:30:23.656"/>
    <p1510:client id="{780800B8-2460-CEE4-2BBD-2D38868F2C31}" v="270" dt="2025-07-30T07:17:44.064"/>
    <p1510:client id="{7CB012A5-A089-4CA1-B485-91DB07B72CFB}" v="4275" dt="2025-07-31T03:48:33.111"/>
    <p1510:client id="{864699B7-5FFD-4926-63D3-45A2FEB0FD29}" v="193" dt="2025-07-30T07:16:28.760"/>
    <p1510:client id="{91ECCA9E-6266-97DE-2826-48EA62F42F7A}" v="617" dt="2025-07-30T06:38:57.121"/>
    <p1510:client id="{ABDCB156-4A4B-C75B-38A5-A80C29E202CE}" v="607" dt="2025-07-30T09:30:37.555"/>
    <p1510:client id="{AD822B9F-5781-E3F7-946F-EA5D17BF9528}" v="1416" dt="2025-07-31T03:30:08.056"/>
    <p1510:client id="{C8D5A282-E04A-7078-86DF-6DA86B991AC6}" v="30" dt="2025-07-31T00:26:15.257"/>
    <p1510:client id="{CA369B0A-0FD8-0167-F89D-A647E75E1F27}" v="1739" dt="2025-07-30T06:58:32.296"/>
    <p1510:client id="{CE01F9FF-3485-C5A0-96A0-B5255296C012}" v="9" dt="2025-07-30T08:58:05.458"/>
    <p1510:client id="{D07ACCD1-CC8F-77FA-DACC-0CE822222416}" v="63" dt="2025-07-31T03:24:33.648"/>
    <p1510:client id="{D4FC5599-B78B-1291-7AFA-762D17E93A79}" v="711" dt="2025-07-30T08:57:33.773"/>
    <p1510:client id="{E8B258CB-C020-F239-2A34-E161732E0408}" v="959" dt="2025-07-30T08:55:01.646"/>
    <p1510:client id="{F80EA762-2FCE-EA72-FF08-E19771080A56}" v="416" dt="2025-07-30T06:45:27.576"/>
    <p1510:client id="{FA122883-1C74-4FFA-AB63-FE586A62B2D2}" v="374" dt="2025-07-31T02:21:13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1E_FD991E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16E8C1-0992-47C2-A8EA-87A04B8FCD42}" authorId="{A4A6ABA2-5E2D-8E6E-F75B-11E40BEBDAEE}" created="2025-07-31T03:23:35.0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54670534" sldId="286"/>
      <ac:picMk id="2" creationId="{C992A493-B835-1A5F-2261-9C158AC84ECF}"/>
    </ac:deMkLst>
    <p188:txBody>
      <a:bodyPr/>
      <a:lstStyle/>
      <a:p>
        <a:r>
          <a:rPr lang="en-US"/>
          <a:t>結論：API一覧は画面設計と整合をとり、操作ごとにHTTPメソッドとエンドポイントを一貫性ある形で整理しました。
 また、セッション管理やバリデーションなど運用面を意識して、実装・保守しやすい設計にしています。</a:t>
        </a:r>
      </a:p>
    </p188:txBody>
  </p188:cm>
</p188:cmLst>
</file>

<file path=ppt/comments/modernComment_121_2E54E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5EAEC1-C9B0-4019-B024-0B1BFD50DEE8}" authorId="{A4A6ABA2-5E2D-8E6E-F75B-11E40BEBDAEE}" created="2025-07-31T02:05:29.805">
    <pc:sldMkLst xmlns:pc="http://schemas.microsoft.com/office/powerpoint/2013/main/command">
      <pc:docMk/>
      <pc:sldMk cId="48582226" sldId="289"/>
    </pc:sldMkLst>
    <p188:txBody>
      <a:bodyPr/>
      <a:lstStyle/>
      <a:p>
        <a:r>
          <a:rPr lang="en-US"/>
          <a:t>ログインしてもしなくても購入可能。トップページだけでなく、カートからもログイン画面に移動することができる。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0BB34-3D1E-48CD-B4E8-EA76BFA51F40}" type="datetimeFigureOut">
              <a:t>7/30/2025</a:t>
            </a:fld>
            <a:endParaRPr kumimoji="1"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/>
              <a:t>Click to edit Master text styles</a:t>
            </a:r>
          </a:p>
          <a:p>
            <a:pPr lvl="1"/>
            <a:r>
              <a:rPr kumimoji="1" lang="en-US"/>
              <a:t>Second level</a:t>
            </a:r>
          </a:p>
          <a:p>
            <a:pPr lvl="2"/>
            <a:r>
              <a:rPr kumimoji="1" lang="en-US"/>
              <a:t>Third level</a:t>
            </a:r>
          </a:p>
          <a:p>
            <a:pPr lvl="3"/>
            <a:r>
              <a:rPr kumimoji="1" lang="en-US"/>
              <a:t>Fourth level</a:t>
            </a:r>
          </a:p>
          <a:p>
            <a:pPr lvl="4"/>
            <a:r>
              <a:rPr kumimoji="1"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165A0-6518-4CC7-A8E9-3404E59872CF}" type="slidenum"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72248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165A0-6518-4CC7-A8E9-3404E59872CF}" type="slidenum">
              <a:rPr lang="en-US"/>
              <a:t>1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522075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165A0-6518-4CC7-A8E9-3404E59872CF}" type="slidenum">
              <a:rPr lang="en-US" altLang="ja-JP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78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165A0-6518-4CC7-A8E9-3404E59872CF}" type="slidenum">
              <a:rPr lang="en-US" altLang="ja-JP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975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165A0-6518-4CC7-A8E9-3404E59872CF}" type="slidenum">
              <a:rPr lang="en-US" altLang="ja-JP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94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61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6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4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4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2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0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6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9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6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1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1_2E54E5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1E_FD991EC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EB2BF0-D260-C520-975E-ABBAEAC50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910" y="3900908"/>
            <a:ext cx="2724979" cy="22479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C0C9D3-6E49-FBB1-467E-424BB921F0EB}"/>
              </a:ext>
            </a:extLst>
          </p:cNvPr>
          <p:cNvSpPr txBox="1"/>
          <p:nvPr/>
        </p:nvSpPr>
        <p:spPr>
          <a:xfrm>
            <a:off x="4977321" y="3567642"/>
            <a:ext cx="22405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800" b="1">
                <a:solidFill>
                  <a:schemeClr val="accent5">
                    <a:lumMod val="50000"/>
                  </a:schemeClr>
                </a:solidFill>
                <a:latin typeface="ADLaM Display"/>
                <a:ea typeface="ADLaM Display"/>
                <a:cs typeface="ADLaM Display"/>
              </a:rPr>
              <a:t>Team </a:t>
            </a:r>
            <a:r>
              <a:rPr lang="en-US" altLang="ja-JP" sz="2800" b="1">
                <a:solidFill>
                  <a:srgbClr val="E4716F"/>
                </a:solidFill>
                <a:latin typeface="ADLaM Display"/>
                <a:ea typeface="ADLaM Display"/>
                <a:cs typeface="ADLaM Display"/>
              </a:rPr>
              <a:t>B</a:t>
            </a:r>
            <a:r>
              <a:rPr lang="en-US" altLang="ja-JP" sz="2800" b="1">
                <a:solidFill>
                  <a:schemeClr val="accent5">
                    <a:lumMod val="50000"/>
                  </a:schemeClr>
                </a:solidFill>
                <a:latin typeface="ADLaM Display"/>
                <a:ea typeface="ADLaM Display"/>
                <a:cs typeface="ADLaM Display"/>
              </a:rPr>
              <a:t>ac</a:t>
            </a:r>
            <a:r>
              <a:rPr lang="en-US" sz="2800" b="1">
                <a:solidFill>
                  <a:schemeClr val="accent5">
                    <a:lumMod val="50000"/>
                  </a:schemeClr>
                </a:solidFill>
                <a:latin typeface="ADLaM Display"/>
                <a:ea typeface="ADLaM Display"/>
                <a:cs typeface="ADLaM Display"/>
              </a:rPr>
              <a:t>on</a:t>
            </a:r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44F753-C679-7D6E-DFF9-FE1C6CE34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1875581"/>
            <a:ext cx="7588155" cy="1194846"/>
          </a:xfrm>
        </p:spPr>
        <p:txBody>
          <a:bodyPr>
            <a:normAutofit fontScale="90000"/>
          </a:bodyPr>
          <a:lstStyle/>
          <a:p>
            <a:br>
              <a:rPr lang="en-US" sz="8000">
                <a:solidFill>
                  <a:schemeClr val="accent5">
                    <a:lumMod val="50000"/>
                  </a:schemeClr>
                </a:solidFill>
                <a:latin typeface="ADLaM Display"/>
                <a:ea typeface="ADLaM Display"/>
                <a:cs typeface="ADLaM Display"/>
              </a:rPr>
            </a:br>
            <a:br>
              <a:rPr lang="en-US" sz="8000">
                <a:latin typeface="ADLaM Display"/>
                <a:ea typeface="ADLaM Display"/>
                <a:cs typeface="ADLaM Display"/>
              </a:rPr>
            </a:br>
            <a:br>
              <a:rPr lang="en-US" sz="8000">
                <a:latin typeface="ADLaM Display"/>
                <a:ea typeface="ADLaM Display"/>
                <a:cs typeface="ADLaM Display"/>
              </a:rPr>
            </a:br>
            <a:r>
              <a:rPr lang="en-US" sz="8000">
                <a:solidFill>
                  <a:schemeClr val="accent5">
                    <a:lumMod val="50000"/>
                  </a:schemeClr>
                </a:solidFill>
                <a:latin typeface="ADLaM Display"/>
                <a:ea typeface="ADLaM Display"/>
                <a:cs typeface="ADLaM Display"/>
              </a:rPr>
              <a:t>Presentation</a:t>
            </a:r>
            <a:endParaRPr lang="en-US" sz="80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66397-0515-548F-1858-47C39A345DB6}"/>
              </a:ext>
            </a:extLst>
          </p:cNvPr>
          <p:cNvSpPr txBox="1"/>
          <p:nvPr/>
        </p:nvSpPr>
        <p:spPr>
          <a:xfrm>
            <a:off x="2932476" y="1214416"/>
            <a:ext cx="63411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rgbClr val="E4716F"/>
                </a:solidFill>
                <a:latin typeface="ADLaM Display"/>
                <a:ea typeface="ADLaM Display"/>
                <a:cs typeface="ADLaM Display"/>
              </a:rPr>
              <a:t>Simple Zakka</a:t>
            </a:r>
            <a:endParaRPr lang="en-US" sz="5400">
              <a:solidFill>
                <a:srgbClr val="E471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79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9CF39-E08B-3218-76FC-6E722B4D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122" y="819393"/>
            <a:ext cx="7829062" cy="523056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■1　プロジェクト概要</a:t>
            </a:r>
          </a:p>
          <a:p>
            <a:pPr marL="0" indent="0">
              <a:buNone/>
            </a:pP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</a:t>
            </a: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2</a:t>
            </a: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 システム概要</a:t>
            </a:r>
            <a:endParaRPr lang="en-US" sz="2000" b="1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pPr marL="0" indent="0">
              <a:buNone/>
            </a:pPr>
            <a:r>
              <a:rPr lang="ja-JP" altLang="en-US" sz="1600" b="1">
                <a:solidFill>
                  <a:schemeClr val="tx1">
                    <a:lumMod val="49000"/>
                    <a:lumOff val="51000"/>
                  </a:schemeClr>
                </a:solidFill>
                <a:latin typeface="游ゴシック"/>
                <a:ea typeface="游ゴシック"/>
                <a:cs typeface="Open Sans"/>
              </a:rPr>
              <a:t>   </a:t>
            </a:r>
            <a:r>
              <a:rPr lang="ja-JP" altLang="en-US" sz="1600" b="1">
                <a:latin typeface="游ゴシック"/>
                <a:ea typeface="游ゴシック"/>
                <a:cs typeface="Open Sans"/>
              </a:rPr>
              <a:t>①機能概要　③アーキテクチャ概要</a:t>
            </a:r>
            <a:r>
              <a:rPr lang="ja-JP" altLang="en-US" sz="16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④主要な画面フロー</a:t>
            </a:r>
          </a:p>
          <a:p>
            <a:pPr marL="0" indent="0">
              <a:buNone/>
            </a:pPr>
            <a:r>
              <a:rPr lang="ja-JP" altLang="en-US" sz="16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   ⑤ER図　⑥API</a:t>
            </a:r>
            <a:endParaRPr lang="ja-JP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</a:t>
            </a: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3</a:t>
            </a: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</a:t>
            </a: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テスト・品質確保の取り組み</a:t>
            </a:r>
            <a:endParaRPr lang="en-US" altLang="ja-JP" b="1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pPr marL="0" indent="0">
              <a:buNone/>
            </a:pP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    ①</a:t>
            </a:r>
          </a:p>
          <a:p>
            <a:pPr marL="0" indent="0">
              <a:buNone/>
            </a:pPr>
            <a:r>
              <a:rPr lang="ja-JP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</a:t>
            </a:r>
            <a:r>
              <a:rPr lang="en-US" altLang="ja-JP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4</a:t>
            </a:r>
            <a:r>
              <a:rPr lang="ja-JP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 デモンストレーション</a:t>
            </a:r>
            <a:endParaRPr lang="ja-JP"/>
          </a:p>
          <a:p>
            <a:pPr marL="0" indent="0">
              <a:buNone/>
            </a:pP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</a:t>
            </a: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5</a:t>
            </a: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 ふりかえり結果</a:t>
            </a:r>
            <a:endParaRPr lang="en-US" altLang="ja-JP" sz="2000" b="1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pPr marL="0" indent="0">
              <a:buNone/>
            </a:pPr>
            <a:r>
              <a:rPr lang="ja-JP" altLang="en-US" sz="1400" b="1">
                <a:solidFill>
                  <a:schemeClr val="tx1">
                    <a:lumMod val="49000"/>
                    <a:lumOff val="51000"/>
                  </a:schemeClr>
                </a:solidFill>
                <a:latin typeface="游ゴシック"/>
                <a:ea typeface="游ゴシック"/>
                <a:cs typeface="Open Sans"/>
              </a:rPr>
              <a:t>    </a:t>
            </a:r>
            <a:r>
              <a:rPr lang="ja-JP" altLang="en-US" sz="1600" b="1">
                <a:latin typeface="游ゴシック"/>
                <a:ea typeface="游ゴシック"/>
                <a:cs typeface="Open Sans"/>
              </a:rPr>
              <a:t>①Keep　②Problem　③Try　④特に印象的だった点</a:t>
            </a:r>
            <a:endParaRPr lang="ja-JP" sz="1600">
              <a:latin typeface="游ゴシック"/>
              <a:ea typeface="游ゴシック"/>
              <a:cs typeface="Open Sans"/>
            </a:endParaRPr>
          </a:p>
          <a:p>
            <a:pPr marL="0" indent="0">
              <a:buNone/>
            </a:pPr>
            <a:r>
              <a:rPr lang="ja-JP" altLang="en-US" sz="1600" b="1">
                <a:latin typeface="游ゴシック"/>
                <a:ea typeface="游ゴシック"/>
                <a:cs typeface="Open Sans"/>
              </a:rPr>
              <a:t>     ⑤チームビルディングやプロジェクト管理で工夫した点</a:t>
            </a:r>
            <a:endParaRPr lang="ja-JP" sz="160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</a:t>
            </a:r>
            <a:r>
              <a:rPr lang="ja-JP" altLang="en-US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6</a:t>
            </a:r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 今後の改善</a:t>
            </a:r>
            <a:endParaRPr lang="en-US" altLang="ja-JP" sz="2000" b="1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pPr marL="0" indent="0">
              <a:buNone/>
            </a:pPr>
            <a:endParaRPr lang="en-US" sz="1400" b="1">
              <a:solidFill>
                <a:schemeClr val="tx1">
                  <a:lumMod val="49000"/>
                  <a:lumOff val="51000"/>
                </a:schemeClr>
              </a:solidFill>
              <a:latin typeface="Yu Gothic"/>
              <a:ea typeface="游ゴシック" panose="02110004020202020204"/>
              <a:cs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6CA3A-A8DD-C718-157C-FDFB2BCD5167}"/>
              </a:ext>
            </a:extLst>
          </p:cNvPr>
          <p:cNvSpPr txBox="1"/>
          <p:nvPr/>
        </p:nvSpPr>
        <p:spPr>
          <a:xfrm>
            <a:off x="692921" y="3198704"/>
            <a:ext cx="23574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latin typeface="Yu Gothic"/>
                <a:ea typeface="Yu Gothic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7164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AB3A1-015A-A597-90CA-BF7F66C8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3600" b="0">
                <a:latin typeface="Yu Gothic"/>
                <a:ea typeface="Yu Gothic"/>
              </a:rPr>
              <a:t>１　</a:t>
            </a:r>
            <a:r>
              <a:rPr lang="ja-JP" altLang="en-US" b="0">
                <a:latin typeface="Yu Gothic"/>
                <a:ea typeface="Yu Gothic"/>
              </a:rPr>
              <a:t>プロジェクト</a:t>
            </a:r>
            <a:r>
              <a:rPr lang="ja-JP" altLang="en-US" sz="3600" b="0">
                <a:latin typeface="Yu Gothic"/>
                <a:ea typeface="Yu Gothic"/>
              </a:rPr>
              <a:t>概要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07618-F3FD-FDA6-46B5-DD15C529DC83}"/>
              </a:ext>
            </a:extLst>
          </p:cNvPr>
          <p:cNvSpPr txBox="1"/>
          <p:nvPr/>
        </p:nvSpPr>
        <p:spPr>
          <a:xfrm>
            <a:off x="842264" y="1708850"/>
            <a:ext cx="1039812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</a:t>
            </a:r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テーマ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   ：シンプル雑貨オンライン</a:t>
            </a:r>
            <a:endParaRPr lang="ja-JP" altLang="en-US" sz="2000">
              <a:latin typeface="Yu Gothic"/>
              <a:ea typeface="Yu Gothic"/>
              <a:cs typeface="Open Sans"/>
            </a:endParaRPr>
          </a:p>
          <a:p>
            <a:endParaRPr lang="ja-JP" altLang="en-US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</a:t>
            </a:r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開発期間</a:t>
            </a:r>
            <a:r>
              <a:rPr lang="en-US" altLang="ja-JP" sz="2000">
                <a:solidFill>
                  <a:srgbClr val="000000"/>
                </a:solidFill>
                <a:latin typeface="Yu Gothic"/>
                <a:ea typeface="游ゴシック"/>
                <a:cs typeface="Open Sans"/>
              </a:rPr>
              <a:t> </a:t>
            </a:r>
            <a:r>
              <a:rPr lang="ja-JP" altLang="ja-JP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 ：</a:t>
            </a:r>
            <a:r>
              <a:rPr lang="en-US" sz="2000">
                <a:solidFill>
                  <a:srgbClr val="000000"/>
                </a:solidFill>
                <a:latin typeface="Yu Gothic"/>
                <a:ea typeface="游ゴシック"/>
                <a:cs typeface="Open Sans"/>
              </a:rPr>
              <a:t>1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ヶ月</a:t>
            </a:r>
            <a:endParaRPr lang="en-US" sz="2000">
              <a:latin typeface="Yu Gothic"/>
              <a:ea typeface="Yu Gothic"/>
              <a:cs typeface="Open Sans"/>
            </a:endParaRPr>
          </a:p>
          <a:p>
            <a:endParaRPr lang="en-US" altLang="ja-JP" sz="2000">
              <a:solidFill>
                <a:srgbClr val="000000"/>
              </a:solidFill>
              <a:latin typeface="Yu Gothic"/>
              <a:ea typeface="游ゴシック"/>
              <a:cs typeface="Open Sans"/>
            </a:endParaRPr>
          </a:p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■チーム名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　 ：Bacon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endParaRPr lang="ja-JP" altLang="en-US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</a:t>
            </a:r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チーム構成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 ：神田・鈴木・徳丸・奈良田・原田・前田</a:t>
            </a:r>
            <a:endParaRPr lang="en-US" sz="2000">
              <a:latin typeface="Yu Gothic"/>
              <a:ea typeface="Yu Gothic"/>
            </a:endParaRPr>
          </a:p>
          <a:p>
            <a:endParaRPr lang="ja-JP" altLang="en-US" sz="2000" b="1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■開発目的</a:t>
            </a:r>
            <a:r>
              <a:rPr lang="en-US" sz="2000">
                <a:solidFill>
                  <a:srgbClr val="000000"/>
                </a:solidFill>
                <a:latin typeface="Yu Gothic"/>
                <a:ea typeface="游ゴシック"/>
                <a:cs typeface="Open Sans"/>
              </a:rPr>
              <a:t>  ：</a:t>
            </a:r>
            <a:r>
              <a:rPr lang="en-US" sz="2000">
                <a:solidFill>
                  <a:srgbClr val="000000"/>
                </a:solidFill>
                <a:latin typeface="Yu Gothic"/>
                <a:ea typeface="+mn-lt"/>
                <a:cs typeface="Open Sans"/>
              </a:rPr>
              <a:t>1)</a:t>
            </a:r>
            <a:r>
              <a:rPr lang="en-US" altLang="ja-JP" sz="2000">
                <a:solidFill>
                  <a:srgbClr val="000000"/>
                </a:solidFill>
                <a:latin typeface="Yu Gothic"/>
                <a:ea typeface="+mn-lt"/>
                <a:cs typeface="Open Sans"/>
              </a:rPr>
              <a:t>Spring Boot 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と</a:t>
            </a:r>
            <a:r>
              <a:rPr lang="en-US" altLang="ja-JP" sz="2000">
                <a:solidFill>
                  <a:srgbClr val="000000"/>
                </a:solidFill>
                <a:latin typeface="Yu Gothic"/>
                <a:ea typeface="+mn-lt"/>
                <a:cs typeface="Open Sans"/>
              </a:rPr>
              <a:t> Web 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アプリケーション開発の基本スキル習得する。</a:t>
            </a:r>
            <a:endParaRPr lang="en-US" altLang="ja-JP" sz="12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　　　　　　　　2)PJの一連の流れを経験、把握する。</a:t>
            </a:r>
            <a:endParaRPr lang="ja-JP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　　　　　　　　3)顧客の依頼に即したアプリケーションを開発する。</a:t>
            </a:r>
            <a:endParaRPr lang="ja-JP">
              <a:latin typeface="Yu Gothic"/>
              <a:ea typeface="Yu Gothic"/>
              <a:cs typeface="Open Sans"/>
            </a:endParaRPr>
          </a:p>
          <a:p>
            <a:endParaRPr lang="ja-JP" altLang="en-US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7373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E9E55-7F5B-D355-F8CF-F5B03815B620}"/>
              </a:ext>
            </a:extLst>
          </p:cNvPr>
          <p:cNvSpPr txBox="1"/>
          <p:nvPr/>
        </p:nvSpPr>
        <p:spPr>
          <a:xfrm>
            <a:off x="842298" y="1714810"/>
            <a:ext cx="533400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latin typeface="Yu Gothic"/>
                <a:ea typeface="Yu Gothic"/>
              </a:rPr>
              <a:t>①機能概要</a:t>
            </a:r>
          </a:p>
          <a:p>
            <a:endParaRPr lang="ja-JP" altLang="en-US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■基本機能：1)商品一覧/詳細表示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      2)カート追加/更新/削除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      3)注文機能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endParaRPr lang="ja-JP" altLang="en-US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■追加機能：</a:t>
            </a:r>
            <a:r>
              <a:rPr lang="ja-JP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4)商品検索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      5)カテゴリー検索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      6)会員登録・ログイン機能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      7)お客様情報自動入力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      8)支払方法選択</a:t>
            </a:r>
            <a:endParaRPr lang="ja-JP" altLang="en-US" sz="2000" b="1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Open Sans"/>
              </a:rPr>
              <a:t>      （代引き・銀行振込）</a:t>
            </a:r>
            <a:endParaRPr lang="ja-JP" altLang="en-US" sz="2000" b="1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77D201DD-87F5-4D76-CEF4-91E277588892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２　システム概要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A3E5C-827E-862B-5553-D8957C49A270}"/>
              </a:ext>
            </a:extLst>
          </p:cNvPr>
          <p:cNvSpPr txBox="1"/>
          <p:nvPr/>
        </p:nvSpPr>
        <p:spPr>
          <a:xfrm>
            <a:off x="6175490" y="1714002"/>
            <a:ext cx="531495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②</a:t>
            </a:r>
            <a:r>
              <a:rPr lang="ja-JP" sz="2000" b="1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アーキテクチャ概要</a:t>
            </a:r>
            <a:endParaRPr lang="ja-JP" altLang="en-US" sz="2000" b="1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endParaRPr lang="ja-JP" altLang="en-US" sz="2000" b="1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</a:t>
            </a:r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Spring Boot</a:t>
            </a:r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</a:t>
            </a:r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Java</a:t>
            </a:r>
            <a:endParaRPr lang="ja-JP" altLang="en-US">
              <a:solidFill>
                <a:srgbClr val="000000"/>
              </a:solidFill>
              <a:latin typeface="Neue Haas Grotesk Text Pro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</a:t>
            </a:r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JPA(Hibernate)</a:t>
            </a:r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en-US" alt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・REST</a:t>
            </a:r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 </a:t>
            </a:r>
            <a:r>
              <a:rPr lang="en-US" alt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API</a:t>
            </a:r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en-US" alt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・H2Database、</a:t>
            </a:r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・</a:t>
            </a:r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HTML/CSS/JavaScript(Bootstrap)</a:t>
            </a:r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2763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35FEA-7FD5-D88C-03FB-C540B70A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F8EB-14F8-4A6B-8BA7-11F06FAA30AC}" type="datetime1">
              <a:rPr lang="ja-JP" altLang="en-US"/>
              <a:t>2025/7/30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2DF06-763E-88B2-B049-062C39B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8D257-C58B-44D4-8153-7506E144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5049D8-D93D-7BB5-7319-E243A8D8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" r="-303" b="240"/>
          <a:stretch>
            <a:fillRect/>
          </a:stretch>
        </p:blipFill>
        <p:spPr>
          <a:xfrm>
            <a:off x="287813" y="0"/>
            <a:ext cx="11881509" cy="6841521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3942FAE5-BFBC-FA79-4471-1EC346A26ABF}"/>
              </a:ext>
            </a:extLst>
          </p:cNvPr>
          <p:cNvSpPr txBox="1">
            <a:spLocks/>
          </p:cNvSpPr>
          <p:nvPr/>
        </p:nvSpPr>
        <p:spPr>
          <a:xfrm>
            <a:off x="138967" y="170961"/>
            <a:ext cx="3127129" cy="48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j-lt"/>
              </a:rPr>
              <a:t>③</a:t>
            </a:r>
            <a:r>
              <a:rPr lang="ja-JP" sz="2000" b="1">
                <a:solidFill>
                  <a:srgbClr val="000000"/>
                </a:solidFill>
                <a:latin typeface="Yu Gothic"/>
                <a:ea typeface="Yu Gothic"/>
                <a:cs typeface="+mj-lt"/>
              </a:rPr>
              <a:t>主要な画面フロー</a:t>
            </a:r>
            <a:endParaRPr lang="ja-JP" altLang="en-US" sz="2000" b="1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8582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F034-66DE-1AE9-315B-B205C071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61F73968-1086-9950-B6D9-F77DD1C2F5C8}"/>
              </a:ext>
            </a:extLst>
          </p:cNvPr>
          <p:cNvSpPr txBox="1">
            <a:spLocks/>
          </p:cNvSpPr>
          <p:nvPr/>
        </p:nvSpPr>
        <p:spPr>
          <a:xfrm>
            <a:off x="228600" y="209550"/>
            <a:ext cx="1104900" cy="487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000" b="1">
                <a:latin typeface="Yu Gothic"/>
                <a:ea typeface="Yu Gothic"/>
              </a:rPr>
              <a:t>④ER図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27F470-9256-9991-377D-725116B55C39}"/>
              </a:ext>
            </a:extLst>
          </p:cNvPr>
          <p:cNvSpPr/>
          <p:nvPr/>
        </p:nvSpPr>
        <p:spPr>
          <a:xfrm>
            <a:off x="9188019" y="4555"/>
            <a:ext cx="1514475" cy="904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0BF87-5CA1-DB93-825A-2D57BCAFE255}"/>
              </a:ext>
            </a:extLst>
          </p:cNvPr>
          <p:cNvSpPr/>
          <p:nvPr/>
        </p:nvSpPr>
        <p:spPr>
          <a:xfrm>
            <a:off x="1799477" y="4645"/>
            <a:ext cx="271462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672065-E665-C828-BB5A-68E18622C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1" y="209550"/>
            <a:ext cx="6040152" cy="666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89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4DE396-4F8A-99D8-E0EC-E1CB8E23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0996-6F55-4D8F-8261-AC7CBB0E4377}" type="datetime1">
              <a:rPr lang="en-US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0B072-9C4B-801B-A990-1FDE5EE9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9565A-6E62-7EB0-9E21-E2B38391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27F79-CF24-393D-20D0-4EE364C7F90D}"/>
              </a:ext>
            </a:extLst>
          </p:cNvPr>
          <p:cNvSpPr txBox="1"/>
          <p:nvPr/>
        </p:nvSpPr>
        <p:spPr>
          <a:xfrm>
            <a:off x="337852" y="265472"/>
            <a:ext cx="8953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Yu Gothic"/>
                <a:ea typeface="Yu Gothic"/>
              </a:rPr>
              <a:t>⑤API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CA7AE-5508-9572-1D67-EEE4F3785779}"/>
              </a:ext>
            </a:extLst>
          </p:cNvPr>
          <p:cNvSpPr/>
          <p:nvPr/>
        </p:nvSpPr>
        <p:spPr>
          <a:xfrm>
            <a:off x="4600" y="590768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92A493-B835-1A5F-2261-9C158AC8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91" y="-2485"/>
            <a:ext cx="8782540" cy="4723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53A26E-B937-771C-6F0A-ADEA29B47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690" y="4719802"/>
            <a:ext cx="8792310" cy="21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705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15B55-D861-5706-B446-0D123C4B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8606A-0EDA-4FCE-75A7-14295F73BF36}"/>
              </a:ext>
            </a:extLst>
          </p:cNvPr>
          <p:cNvSpPr txBox="1"/>
          <p:nvPr/>
        </p:nvSpPr>
        <p:spPr>
          <a:xfrm>
            <a:off x="839210" y="1712391"/>
            <a:ext cx="10822351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①課題管理ツールやスプレッドシートでの管理方法</a:t>
            </a:r>
          </a:p>
          <a:p>
            <a:endParaRPr lang="ja-JP" altLang="en-US" sz="2000">
              <a:latin typeface="Yu Gothic"/>
              <a:ea typeface="Yu Gothic"/>
            </a:endParaRPr>
          </a:p>
          <a:p>
            <a:endParaRPr lang="ja-JP" altLang="en-US" sz="2000">
              <a:latin typeface="Yu Gothic"/>
              <a:ea typeface="Yu Gothic"/>
            </a:endParaRPr>
          </a:p>
          <a:p>
            <a:r>
              <a:rPr lang="ja-JP" altLang="en-US" sz="2000" b="1">
                <a:latin typeface="Yu Gothic"/>
                <a:ea typeface="Yu Gothic"/>
              </a:rPr>
              <a:t>【使用ツール】</a:t>
            </a:r>
          </a:p>
          <a:p>
            <a:r>
              <a:rPr lang="ja-JP" altLang="en-US" sz="2000">
                <a:latin typeface="Yu Gothic"/>
                <a:ea typeface="Yu Gothic"/>
              </a:rPr>
              <a:t>■</a:t>
            </a:r>
            <a:r>
              <a:rPr lang="ja-JP" altLang="en-US" sz="2000" b="1">
                <a:latin typeface="Yu Gothic"/>
                <a:ea typeface="Yu Gothic"/>
              </a:rPr>
              <a:t>Google Document</a:t>
            </a:r>
            <a:r>
              <a:rPr lang="ja-JP" altLang="en-US" sz="2000">
                <a:latin typeface="Yu Gothic"/>
                <a:ea typeface="Yu Gothic"/>
              </a:rPr>
              <a:t> ：文章、作成コードの共有</a:t>
            </a:r>
            <a:endParaRPr lang="ja-JP"/>
          </a:p>
          <a:p>
            <a:r>
              <a:rPr lang="ja-JP" altLang="en-US" sz="2000">
                <a:latin typeface="Yu Gothic"/>
                <a:ea typeface="Yu Gothic"/>
              </a:rPr>
              <a:t>                  ⇒お互いの進捗と作成内容を確認</a:t>
            </a:r>
          </a:p>
          <a:p>
            <a:endParaRPr lang="ja-JP" altLang="en-US" sz="2000">
              <a:latin typeface="Yu Gothic"/>
              <a:ea typeface="Yu Gothic"/>
            </a:endParaRPr>
          </a:p>
          <a:p>
            <a:endParaRPr lang="ja-JP" altLang="en-US" sz="2000">
              <a:latin typeface="Yu Gothic"/>
              <a:ea typeface="Yu Gothic"/>
            </a:endParaRPr>
          </a:p>
          <a:p>
            <a:r>
              <a:rPr lang="ja-JP" altLang="en-US" sz="2000">
                <a:latin typeface="Yu Gothic"/>
                <a:ea typeface="Yu Gothic"/>
              </a:rPr>
              <a:t>■</a:t>
            </a:r>
            <a:r>
              <a:rPr lang="ja-JP" altLang="en-US" sz="2000" b="1">
                <a:latin typeface="Yu Gothic"/>
                <a:ea typeface="Yu Gothic"/>
              </a:rPr>
              <a:t>Excel</a:t>
            </a:r>
            <a:r>
              <a:rPr lang="ja-JP" altLang="en-US" sz="2000">
                <a:latin typeface="Yu Gothic"/>
                <a:ea typeface="Yu Gothic"/>
              </a:rPr>
              <a:t>       ：テスト項目表やテストシナリオの進捗管理・​内容確認</a:t>
            </a:r>
          </a:p>
          <a:p>
            <a:r>
              <a:rPr lang="ja-JP" altLang="en-US" sz="2000">
                <a:latin typeface="Yu Gothic"/>
                <a:ea typeface="Yu Gothic"/>
              </a:rPr>
              <a:t>                  ⇒完了タスクと実行中タスクに色付けし進捗を確認</a:t>
            </a:r>
          </a:p>
          <a:p>
            <a:endParaRPr lang="ja-JP" altLang="en-US" sz="2000">
              <a:latin typeface="Yu Gothic"/>
              <a:ea typeface="Yu Gothic"/>
            </a:endParaRPr>
          </a:p>
          <a:p>
            <a:r>
              <a:rPr lang="ja-JP" altLang="en-US" sz="2000">
                <a:latin typeface="Yu Gothic"/>
                <a:ea typeface="Yu Gothic"/>
              </a:rPr>
              <a:t>■</a:t>
            </a:r>
            <a:r>
              <a:rPr lang="ja-JP" altLang="en-US" sz="2000" b="1">
                <a:latin typeface="Yu Gothic"/>
                <a:ea typeface="Yu Gothic"/>
              </a:rPr>
              <a:t>Teams</a:t>
            </a:r>
            <a:r>
              <a:rPr lang="ja-JP" altLang="en-US" sz="2000">
                <a:latin typeface="Yu Gothic"/>
                <a:ea typeface="Yu Gothic"/>
              </a:rPr>
              <a:t>        ：メンバー間の報連相、在宅時のコミュケーション</a:t>
            </a:r>
          </a:p>
          <a:p>
            <a:r>
              <a:rPr lang="ja-JP" altLang="en-US" sz="2000">
                <a:latin typeface="Yu Gothic"/>
                <a:ea typeface="Yu Gothic"/>
              </a:rPr>
              <a:t>                  ⇒スムーズな連携、情報共有 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43E49B11-7159-8D72-035B-57F11BBC1656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３</a:t>
            </a:r>
            <a:r>
              <a:rPr lang="ja-JP" sz="3600">
                <a:latin typeface="Yu Gothic"/>
                <a:ea typeface="Yu Gothic"/>
              </a:rPr>
              <a:t>　</a:t>
            </a:r>
            <a:r>
              <a:rPr lang="ja-JP" sz="3600">
                <a:solidFill>
                  <a:srgbClr val="000000"/>
                </a:solidFill>
                <a:latin typeface="Yu Gothic"/>
                <a:ea typeface="Yu Gothic"/>
                <a:cs typeface="+mj-lt"/>
              </a:rPr>
              <a:t>テスト・品質確保の取り組み</a:t>
            </a:r>
            <a:endParaRPr lang="en-US" altLang="ja-JP" sz="3600">
              <a:solidFill>
                <a:srgbClr val="000000"/>
              </a:solidFill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809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EEF330-A035-E871-AFD9-56081B45209C}"/>
              </a:ext>
            </a:extLst>
          </p:cNvPr>
          <p:cNvSpPr txBox="1"/>
          <p:nvPr/>
        </p:nvSpPr>
        <p:spPr>
          <a:xfrm>
            <a:off x="839210" y="1712391"/>
            <a:ext cx="10822351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latin typeface="Yu Gothic"/>
                <a:ea typeface="Yu Gothic"/>
              </a:rPr>
              <a:t>②テストの種類と方法</a:t>
            </a:r>
          </a:p>
          <a:p>
            <a:endParaRPr lang="ja-JP" altLang="en-US" sz="2000" b="1">
              <a:latin typeface="Yu Gothic"/>
              <a:ea typeface="Yu Gothic"/>
            </a:endParaRPr>
          </a:p>
          <a:p>
            <a:r>
              <a:rPr lang="ja-JP" altLang="en-US" sz="2000" b="1">
                <a:latin typeface="Yu Gothic"/>
                <a:ea typeface="Yu Gothic"/>
              </a:rPr>
              <a:t>■単体テスト項目：</a:t>
            </a:r>
            <a:endParaRPr lang="en-US" altLang="ja-JP" sz="2000" b="1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JUnit</a:t>
            </a:r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、</a:t>
            </a:r>
            <a:r>
              <a:rPr lang="ja-JP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Mockito を使用した</a:t>
            </a:r>
            <a:r>
              <a:rPr lang="en-US" altLang="ja-JP" sz="2000" err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controller、repository、serviceテストを実施</a:t>
            </a:r>
            <a:endParaRPr lang="en-US" altLang="ja-JP" sz="2000">
              <a:solidFill>
                <a:srgbClr val="333333"/>
              </a:solidFill>
              <a:latin typeface="Yu Gothic"/>
              <a:ea typeface="游ゴシック"/>
              <a:cs typeface="Open Sans"/>
            </a:endParaRPr>
          </a:p>
          <a:p>
            <a:r>
              <a:rPr lang="en-US" altLang="ja-JP" sz="2000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（Order、Product、Cart、Customer）。</a:t>
            </a:r>
          </a:p>
          <a:p>
            <a:endParaRPr lang="en-US" altLang="ja-JP" sz="2000" b="1">
              <a:solidFill>
                <a:srgbClr val="333333"/>
              </a:solidFill>
              <a:latin typeface="Yu Gothic"/>
              <a:ea typeface="游ゴシック"/>
              <a:cs typeface="Open Sans"/>
            </a:endParaRPr>
          </a:p>
          <a:p>
            <a:r>
              <a:rPr lang="en-US" altLang="ja-JP" sz="2000" b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■</a:t>
            </a:r>
            <a:r>
              <a:rPr lang="en-US" altLang="ja-JP" sz="2000" b="1" err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結合テスト項目</a:t>
            </a:r>
            <a:r>
              <a:rPr lang="en-US" altLang="ja-JP" sz="2000" b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：</a:t>
            </a:r>
            <a:endParaRPr lang="en-US" sz="2000" b="1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r>
              <a:rPr lang="en-US" altLang="ja-JP" sz="2000" err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商品表示、カート、注文、会員ログイン機能をREST</a:t>
            </a:r>
            <a:r>
              <a:rPr lang="en-US" altLang="ja-JP" sz="2000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 client</a:t>
            </a:r>
            <a:r>
              <a:rPr lang="ja-JP" altLang="en-US" sz="2000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、</a:t>
            </a:r>
            <a:r>
              <a:rPr lang="en-US" altLang="ja-JP" sz="2000" err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画面キャプチャにてエビデンスを残した</a:t>
            </a:r>
            <a:r>
              <a:rPr lang="en-US" altLang="ja-JP" sz="2000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。</a:t>
            </a:r>
            <a:endParaRPr lang="en-US" sz="2000">
              <a:solidFill>
                <a:srgbClr val="000000"/>
              </a:solidFill>
              <a:latin typeface="Yu Gothic"/>
              <a:ea typeface="Yu Gothic"/>
              <a:cs typeface="Open Sans"/>
            </a:endParaRPr>
          </a:p>
          <a:p>
            <a:endParaRPr lang="en-US" altLang="ja-JP" sz="2000">
              <a:solidFill>
                <a:srgbClr val="333333"/>
              </a:solidFill>
              <a:latin typeface="Yu Gothic"/>
              <a:ea typeface="游ゴシック"/>
              <a:cs typeface="Open Sans"/>
            </a:endParaRPr>
          </a:p>
          <a:p>
            <a:endParaRPr lang="en-US" altLang="ja-JP" sz="2000">
              <a:solidFill>
                <a:srgbClr val="333333"/>
              </a:solidFill>
              <a:latin typeface="Yu Gothic"/>
              <a:ea typeface="游ゴシック"/>
              <a:cs typeface="Open Sans"/>
            </a:endParaRPr>
          </a:p>
          <a:p>
            <a:r>
              <a:rPr lang="en-US" altLang="ja-JP" sz="2000" b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■</a:t>
            </a:r>
            <a:r>
              <a:rPr lang="en-US" altLang="ja-JP" sz="2000" b="1" err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総合テスト項目</a:t>
            </a:r>
            <a:r>
              <a:rPr lang="en-US" altLang="ja-JP" sz="2000" b="1">
                <a:solidFill>
                  <a:srgbClr val="333333"/>
                </a:solidFill>
                <a:latin typeface="Yu Gothic"/>
                <a:ea typeface="游ゴシック"/>
                <a:cs typeface="Open Sans"/>
              </a:rPr>
              <a:t>：</a:t>
            </a:r>
            <a:endParaRPr lang="ja-JP" altLang="en-US" sz="2000" b="1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  <a:p>
            <a:r>
              <a:rPr lang="en-US" sz="2000" err="1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商品表示、カート、注文、会員ログイン</a:t>
            </a:r>
            <a:r>
              <a:rPr 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、</a:t>
            </a:r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シナリオ、非機能テストを画面キャプチャにて</a:t>
            </a:r>
          </a:p>
          <a:p>
            <a:r>
              <a:rPr lang="ja-JP" altLang="en-US" sz="2000">
                <a:solidFill>
                  <a:srgbClr val="333333"/>
                </a:solidFill>
                <a:latin typeface="Yu Gothic"/>
                <a:ea typeface="Yu Gothic"/>
                <a:cs typeface="Open Sans"/>
              </a:rPr>
              <a:t>エビデンスを残した。実際に操作しユーザビリティを確認した。</a:t>
            </a:r>
            <a:endParaRPr lang="ja-JP" sz="2000"/>
          </a:p>
          <a:p>
            <a:endParaRPr lang="ja-JP" altLang="en-US" sz="2000">
              <a:solidFill>
                <a:srgbClr val="333333"/>
              </a:solidFill>
              <a:latin typeface="Yu Gothic"/>
              <a:ea typeface="Yu Gothic"/>
              <a:cs typeface="Open Sans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9A45E5C-CB0A-FDE1-0707-5DB3D945C947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３</a:t>
            </a:r>
            <a:r>
              <a:rPr lang="ja-JP" sz="3600">
                <a:latin typeface="Yu Gothic"/>
                <a:ea typeface="Yu Gothic"/>
              </a:rPr>
              <a:t>　</a:t>
            </a:r>
            <a:r>
              <a:rPr lang="ja-JP" sz="3600">
                <a:solidFill>
                  <a:srgbClr val="000000"/>
                </a:solidFill>
                <a:latin typeface="Yu Gothic"/>
                <a:ea typeface="Yu Gothic"/>
                <a:cs typeface="+mj-lt"/>
              </a:rPr>
              <a:t>テスト・品質確保の取り組み</a:t>
            </a:r>
            <a:endParaRPr lang="en-US" altLang="ja-JP" sz="3600">
              <a:solidFill>
                <a:srgbClr val="000000"/>
              </a:solidFill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330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B6F1F-EB39-B120-8CCD-15C64D1B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1D698E-DB11-A5A6-7016-AF7131FF1A78}"/>
              </a:ext>
            </a:extLst>
          </p:cNvPr>
          <p:cNvSpPr txBox="1"/>
          <p:nvPr/>
        </p:nvSpPr>
        <p:spPr>
          <a:xfrm>
            <a:off x="838200" y="1563688"/>
            <a:ext cx="10822351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latin typeface="Yu Gothic"/>
                <a:ea typeface="Yu Gothic"/>
              </a:rPr>
              <a:t>③</a:t>
            </a:r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テスト結果</a:t>
            </a:r>
            <a:endParaRPr lang="en-US" altLang="ja-JP" sz="2000" b="1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en-US" altLang="ja-JP" sz="2000" b="1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en-US" altLang="ja-JP" sz="2000" b="1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■単体テスト ：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新たに会員・ログイン機能項目を加えた上でオールグリーン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        ⇒デモンストレーションでも再度解説</a:t>
            </a:r>
          </a:p>
          <a:p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■結合テスト ：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期待するエラーメッセージや</a:t>
            </a:r>
            <a:r>
              <a:rPr lang="en-US" altLang="ja-JP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HTTP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ステータスコードが表示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r>
              <a:rPr lang="ja-JP" altLang="en-US" sz="2000" b="1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■総合テスト ：</a:t>
            </a:r>
            <a:r>
              <a:rPr lang="ja-JP" altLang="en-US" sz="2000">
                <a:solidFill>
                  <a:srgbClr val="000000"/>
                </a:solidFill>
                <a:latin typeface="Yu Gothic"/>
                <a:ea typeface="Yu Gothic"/>
                <a:cs typeface="+mn-lt"/>
              </a:rPr>
              <a:t>視認性のあるデザイン・配置でスムーズな画面遷移を実現</a:t>
            </a:r>
            <a:endParaRPr lang="en-US" altLang="ja-JP" sz="2000">
              <a:solidFill>
                <a:srgbClr val="000000"/>
              </a:solidFill>
              <a:latin typeface="Yu Gothic"/>
              <a:ea typeface="Yu Gothic"/>
              <a:cs typeface="+mn-lt"/>
            </a:endParaRPr>
          </a:p>
          <a:p>
            <a:endParaRPr lang="ja-JP" altLang="en-US" sz="2000" b="1">
              <a:latin typeface="Yu Gothic"/>
              <a:ea typeface="Yu Gothic"/>
            </a:endParaRPr>
          </a:p>
          <a:p>
            <a:endParaRPr lang="ja-JP" altLang="en-US" sz="2000" b="1">
              <a:latin typeface="Yu Gothic"/>
              <a:ea typeface="Yu Gothic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EF2E7D90-DADC-FA42-D724-90356F11A35C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３</a:t>
            </a:r>
            <a:r>
              <a:rPr lang="ja-JP" sz="3600">
                <a:latin typeface="Yu Gothic"/>
                <a:ea typeface="Yu Gothic"/>
              </a:rPr>
              <a:t>　</a:t>
            </a:r>
            <a:r>
              <a:rPr lang="ja-JP" altLang="ja-JP" sz="3600">
                <a:solidFill>
                  <a:srgbClr val="000000"/>
                </a:solidFill>
                <a:latin typeface="Yu Gothic"/>
                <a:ea typeface="Yu Gothic"/>
                <a:cs typeface="+mj-lt"/>
              </a:rPr>
              <a:t>テスト・品質確保の取り組み</a:t>
            </a:r>
            <a:endParaRPr lang="en-US" altLang="ja-JP" sz="3600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2700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C7731-4A72-4451-DAE7-0398267D39C7}"/>
              </a:ext>
            </a:extLst>
          </p:cNvPr>
          <p:cNvSpPr txBox="1"/>
          <p:nvPr/>
        </p:nvSpPr>
        <p:spPr>
          <a:xfrm>
            <a:off x="835393" y="1400685"/>
            <a:ext cx="27431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ea typeface="+mn-lt"/>
                <a:cs typeface="+mn-lt"/>
              </a:rPr>
              <a:t>サイトURL</a:t>
            </a:r>
            <a:endParaRPr lang="en-US" altLang="ja-JP">
              <a:ea typeface="+mn-lt"/>
              <a:cs typeface="+mn-lt"/>
            </a:endParaRPr>
          </a:p>
          <a:p>
            <a:endParaRPr lang="ja-JP" altLang="en-US">
              <a:ea typeface="+mn-lt"/>
              <a:cs typeface="+mn-lt"/>
            </a:endParaRPr>
          </a:p>
          <a:p>
            <a:r>
              <a:rPr lang="ja-JP">
                <a:ea typeface="+mn-lt"/>
                <a:cs typeface="+mn-lt"/>
                <a:hlinkClick r:id="rId2"/>
              </a:rPr>
              <a:t>http://localhost:8080/</a:t>
            </a:r>
            <a:r>
              <a:rPr lang="ja-JP" altLang="en-US">
                <a:ea typeface="+mn-lt"/>
                <a:cs typeface="+mn-lt"/>
              </a:rPr>
              <a:t>　</a:t>
            </a:r>
          </a:p>
          <a:p>
            <a:endParaRPr lang="ja-JP" altLang="en-US">
              <a:ea typeface="游ゴシック"/>
            </a:endParaRPr>
          </a:p>
          <a:p>
            <a:endParaRPr lang="ja-JP" altLang="en-US">
              <a:ea typeface="+mn-lt"/>
              <a:cs typeface="+mn-lt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199BB070-CE7F-AB81-71E0-6BD6C8A61567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４　デモンストレーション</a:t>
            </a:r>
            <a:endParaRPr lang="en-US" altLang="ja-JP">
              <a:latin typeface="Yu Gothic"/>
              <a:ea typeface="Yu Gothi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D846AD-1BF6-C900-58B1-AE0E4FFA9BC3}"/>
              </a:ext>
            </a:extLst>
          </p:cNvPr>
          <p:cNvSpPr txBox="1"/>
          <p:nvPr/>
        </p:nvSpPr>
        <p:spPr>
          <a:xfrm>
            <a:off x="835393" y="3059668"/>
            <a:ext cx="156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hlinkClick r:id="rId3" action="ppaction://hlinksldjump"/>
              </a:rPr>
              <a:t>スライド　</a:t>
            </a:r>
            <a:r>
              <a:rPr kumimoji="1" lang="en-US" altLang="ja-JP">
                <a:hlinkClick r:id="rId3" action="ppaction://hlinksldjump"/>
              </a:rPr>
              <a:t>18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08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A376C-C48D-7A72-2688-69E313DD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958" y="1689797"/>
            <a:ext cx="3877806" cy="4880191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22F77B27-D008-3C13-D784-9ED62C4805FE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４　デモンストレーション</a:t>
            </a:r>
            <a:endParaRPr lang="en-US" altLang="ja-JP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89687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D2AE-6B33-D8C0-ECD8-DD7167D8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E559-B6EC-FCB0-99D9-0DD9A898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>
                <a:latin typeface="Yu Gothic"/>
                <a:ea typeface="Yu Gothic"/>
              </a:rPr>
              <a:t>４　デモンストレーション</a:t>
            </a:r>
            <a:endParaRPr lang="en-US" altLang="ja-JP" b="0">
              <a:latin typeface="Yu Gothic"/>
              <a:ea typeface="Yu Gothic"/>
            </a:endParaRPr>
          </a:p>
          <a:p>
            <a:endParaRPr lang="ja-JP" b="1">
              <a:ea typeface="游ゴシック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F303B-28E5-846A-FC8E-419EB52B5B29}"/>
              </a:ext>
            </a:extLst>
          </p:cNvPr>
          <p:cNvSpPr txBox="1"/>
          <p:nvPr/>
        </p:nvSpPr>
        <p:spPr>
          <a:xfrm>
            <a:off x="835393" y="186741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ea typeface="+mn-lt"/>
                <a:cs typeface="+mn-lt"/>
              </a:rPr>
              <a:t>　</a:t>
            </a:r>
            <a:endParaRPr lang="en-US" altLang="ja-JP">
              <a:ea typeface="+mn-lt"/>
              <a:cs typeface="+mn-lt"/>
            </a:endParaRPr>
          </a:p>
          <a:p>
            <a:endParaRPr lang="ja-JP" altLang="en-US">
              <a:ea typeface="游ゴシック"/>
            </a:endParaRPr>
          </a:p>
          <a:p>
            <a:endParaRPr lang="ja-JP" altLang="en-US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A533B-F8E6-BD7E-E9C3-4B22F679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74" y="1712723"/>
            <a:ext cx="8396046" cy="43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7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8B0F-8062-2685-F217-A4E768A9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A954-9F9F-0677-8DF1-07C35D82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>
                <a:latin typeface="Yu Gothic"/>
                <a:ea typeface="Yu Gothic"/>
              </a:rPr>
              <a:t>４　</a:t>
            </a:r>
            <a:r>
              <a:rPr lang="ja-JP" b="0">
                <a:latin typeface="Yu Gothic"/>
                <a:ea typeface="Yu Gothic"/>
              </a:rPr>
              <a:t>デモンストレーション</a:t>
            </a:r>
          </a:p>
          <a:p>
            <a:endParaRPr lang="ja-JP" altLang="en-US">
              <a:ea typeface="游ゴシック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5AAF4-EC12-E9A8-356F-D3A96687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73" y="1667197"/>
            <a:ext cx="8477089" cy="435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3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2FB8-F529-B922-C2F8-2CB6BE7F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4756-F033-C105-AA2A-64AF9813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>
                <a:latin typeface="Yu Gothic"/>
                <a:ea typeface="Yu Gothic"/>
              </a:rPr>
              <a:t>４　</a:t>
            </a:r>
            <a:r>
              <a:rPr lang="ja-JP" b="0">
                <a:latin typeface="Yu Gothic"/>
                <a:ea typeface="Yu Gothic"/>
              </a:rPr>
              <a:t>デモンストレーション</a:t>
            </a:r>
          </a:p>
          <a:p>
            <a:endParaRPr lang="ja-JP" altLang="en-US">
              <a:ea typeface="游ゴシック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A7E9AF-E434-5828-C643-46AF424A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35" y="1475729"/>
            <a:ext cx="7673331" cy="443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83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9E64-70EE-0917-2C6C-89AFBAF1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B9BB-E27A-8910-2023-DD899E72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>
                <a:latin typeface="Yu Gothic"/>
                <a:ea typeface="Yu Gothic"/>
              </a:rPr>
              <a:t>４　</a:t>
            </a:r>
            <a:r>
              <a:rPr lang="ja-JP" b="0">
                <a:latin typeface="Yu Gothic"/>
                <a:ea typeface="Yu Gothic"/>
              </a:rPr>
              <a:t>デモンストレーション</a:t>
            </a:r>
            <a:endParaRPr lang="ja-JP" altLang="en-US" b="0">
              <a:latin typeface="Yu Gothic"/>
              <a:ea typeface="Yu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CF97AF-C814-929B-7DB2-047E4663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78" y="1578566"/>
            <a:ext cx="7797060" cy="472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17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C412C-C1FB-FBA9-9ECF-6024C10E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920B-6920-C719-36F1-1E6ABF38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98" y="281940"/>
            <a:ext cx="10653578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b="0">
                <a:latin typeface="Yu Gothic"/>
                <a:ea typeface="Yu Gothic"/>
              </a:rPr>
              <a:t>４　デモンストレーション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353C0-C568-8B6C-6041-76C3E5C0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0" y="1416157"/>
            <a:ext cx="6934956" cy="522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0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96E13-46E8-6B0E-E2E6-6089DD01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DB3316-6B2F-C061-579D-4E1F3F916897}"/>
              </a:ext>
            </a:extLst>
          </p:cNvPr>
          <p:cNvSpPr txBox="1"/>
          <p:nvPr/>
        </p:nvSpPr>
        <p:spPr>
          <a:xfrm>
            <a:off x="842264" y="1327850"/>
            <a:ext cx="10398124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000" b="1">
                <a:latin typeface="游ゴシック"/>
                <a:ea typeface="游ゴシック"/>
                <a:cs typeface="Open Sans"/>
              </a:rPr>
              <a:t>①Keep</a:t>
            </a:r>
          </a:p>
          <a:p>
            <a:endParaRPr lang="ja-JP" altLang="en-US" sz="2000"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latin typeface="游ゴシック"/>
                <a:ea typeface="游ゴシック"/>
                <a:cs typeface="Open Sans"/>
              </a:rPr>
              <a:t>■</a:t>
            </a:r>
            <a:r>
              <a:rPr lang="ja-JP" sz="2000" b="1">
                <a:latin typeface="游ゴシック"/>
                <a:ea typeface="游ゴシック"/>
                <a:cs typeface="Open Sans"/>
              </a:rPr>
              <a:t>チーム連携・作業分担</a:t>
            </a:r>
            <a:endParaRPr lang="en-US" altLang="ja-JP" sz="2000" b="1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  <a:cs typeface="Open Sans"/>
              </a:rPr>
              <a:t> </a:t>
            </a:r>
            <a:r>
              <a:rPr lang="ja-JP" altLang="en-US">
                <a:latin typeface="游ゴシック"/>
                <a:ea typeface="游ゴシック"/>
                <a:cs typeface="Open Sans"/>
              </a:rPr>
              <a:t>・</a:t>
            </a:r>
            <a:r>
              <a:rPr lang="ja-JP">
                <a:latin typeface="游ゴシック"/>
                <a:ea typeface="游ゴシック"/>
                <a:cs typeface="Open Sans"/>
              </a:rPr>
              <a:t>作業分担が適切に行われていた</a:t>
            </a:r>
            <a:endParaRPr lang="ja-JP" altLang="en-US">
              <a:latin typeface="游ゴシック"/>
              <a:ea typeface="游ゴシック"/>
              <a:cs typeface="Open Sans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手が空いた人から次の工程に進む／未完了の作業を引き受ける</a:t>
            </a:r>
            <a:endParaRPr lang="ja-JP">
              <a:latin typeface="游ゴシック"/>
              <a:ea typeface="游ゴシック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　・</a:t>
            </a:r>
            <a:r>
              <a:rPr lang="ja-JP">
                <a:latin typeface="游ゴシック"/>
                <a:ea typeface="游ゴシック"/>
                <a:cs typeface="Open Sans"/>
              </a:rPr>
              <a:t>実装が難しかったところは周囲に相談して解決できた</a:t>
            </a:r>
            <a:endParaRPr lang="ja-JP">
              <a:latin typeface="游ゴシック"/>
              <a:ea typeface="游ゴシック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暇な人に仕事を割り振りと待たず</a:t>
            </a:r>
            <a:r>
              <a:rPr lang="ja-JP" altLang="en-US">
                <a:latin typeface="游ゴシック"/>
                <a:ea typeface="游ゴシック"/>
                <a:cs typeface="Open Sans"/>
              </a:rPr>
              <a:t>に</a:t>
            </a:r>
            <a:r>
              <a:rPr lang="ja-JP">
                <a:latin typeface="游ゴシック"/>
                <a:ea typeface="游ゴシック"/>
                <a:cs typeface="Open Sans"/>
              </a:rPr>
              <a:t>進められた</a:t>
            </a:r>
            <a:endParaRPr lang="ja-JP" altLang="en-US">
              <a:latin typeface="游ゴシック"/>
              <a:ea typeface="游ゴシック"/>
              <a:cs typeface="Open Sans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　・</a:t>
            </a:r>
            <a:r>
              <a:rPr lang="ja-JP">
                <a:latin typeface="游ゴシック"/>
                <a:ea typeface="游ゴシック"/>
                <a:cs typeface="Open Sans"/>
              </a:rPr>
              <a:t>早く終わった人が土台を整備しスムーズに進んだ</a:t>
            </a:r>
            <a:endParaRPr lang="ja-JP">
              <a:latin typeface="游ゴシック"/>
              <a:ea typeface="游ゴシック"/>
            </a:endParaRPr>
          </a:p>
          <a:p>
            <a:endParaRPr lang="ja-JP" sz="2000"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 b="1">
                <a:latin typeface="游ゴシック"/>
                <a:ea typeface="游ゴシック"/>
                <a:cs typeface="Open Sans"/>
              </a:rPr>
              <a:t>■</a:t>
            </a:r>
            <a:r>
              <a:rPr lang="ja-JP" sz="2000" b="1">
                <a:latin typeface="游ゴシック"/>
                <a:ea typeface="游ゴシック"/>
                <a:cs typeface="Open Sans"/>
              </a:rPr>
              <a:t>Git活用・トラブル対応</a:t>
            </a:r>
            <a:endParaRPr lang="ja-JP" sz="2000" b="1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  <a:cs typeface="Open Sans"/>
              </a:rPr>
              <a:t> </a:t>
            </a:r>
            <a:r>
              <a:rPr lang="ja-JP" altLang="en-US">
                <a:latin typeface="游ゴシック"/>
                <a:ea typeface="游ゴシック"/>
                <a:cs typeface="Open Sans"/>
              </a:rPr>
              <a:t>・</a:t>
            </a:r>
            <a:r>
              <a:rPr lang="ja-JP">
                <a:latin typeface="游ゴシック"/>
                <a:ea typeface="游ゴシック"/>
                <a:cs typeface="Open Sans"/>
              </a:rPr>
              <a:t>ブランチやマージ、コンフリクト対応がわかってきた</a:t>
            </a:r>
            <a:endParaRPr lang="ja-JP">
              <a:latin typeface="游ゴシック"/>
              <a:ea typeface="游ゴシック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設計段階で競合なくスムーズに進んだ</a:t>
            </a: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Gitのトラブルから復元方法を学べた</a:t>
            </a:r>
            <a:endParaRPr lang="ja-JP">
              <a:latin typeface="游ゴシック"/>
              <a:ea typeface="游ゴシック"/>
            </a:endParaRPr>
          </a:p>
          <a:p>
            <a:endParaRPr lang="en-US" altLang="ja-JP" sz="2000">
              <a:ea typeface="游ゴシック"/>
            </a:endParaRPr>
          </a:p>
          <a:p>
            <a:r>
              <a:rPr lang="ja-JP" altLang="en-US" sz="2000" b="1">
                <a:latin typeface="游ゴシック"/>
                <a:ea typeface="游ゴシック"/>
                <a:cs typeface="Open Sans"/>
              </a:rPr>
              <a:t>■</a:t>
            </a:r>
            <a:r>
              <a:rPr lang="ja-JP" sz="2000" b="1">
                <a:latin typeface="游ゴシック"/>
                <a:ea typeface="游ゴシック"/>
                <a:cs typeface="Open Sans"/>
              </a:rPr>
              <a:t>目標・モチベーション管理</a:t>
            </a:r>
            <a:endParaRPr lang="ja-JP" sz="2000" b="1">
              <a:latin typeface="游ゴシック"/>
              <a:ea typeface="游ゴシック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高めの目標設定でモチベーション維持</a:t>
            </a:r>
            <a:endParaRPr lang="ja-JP">
              <a:latin typeface="游ゴシック"/>
              <a:ea typeface="游ゴシック"/>
            </a:endParaRPr>
          </a:p>
          <a:p>
            <a:r>
              <a:rPr lang="ja-JP" altLang="en-US">
                <a:latin typeface="游ゴシック"/>
                <a:ea typeface="游ゴシック"/>
                <a:cs typeface="Open Sans"/>
              </a:rPr>
              <a:t> ・</a:t>
            </a:r>
            <a:r>
              <a:rPr lang="ja-JP">
                <a:latin typeface="游ゴシック"/>
                <a:ea typeface="游ゴシック"/>
                <a:cs typeface="Open Sans"/>
              </a:rPr>
              <a:t>最終的に課題提出に追いついた／進捗を巻き返せた</a:t>
            </a:r>
            <a:endParaRPr lang="ja-JP">
              <a:latin typeface="游ゴシック"/>
              <a:ea typeface="游ゴシック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EA18F669-2D73-8538-43FA-9C5ADC4B4B8E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游ゴシック"/>
                <a:ea typeface="游ゴシック"/>
              </a:rPr>
              <a:t>５</a:t>
            </a:r>
            <a:r>
              <a:rPr lang="ja-JP" sz="3600">
                <a:latin typeface="游ゴシック"/>
                <a:ea typeface="游ゴシック"/>
              </a:rPr>
              <a:t>　ふりかえり結果</a:t>
            </a:r>
            <a:endParaRPr lang="en-US" sz="36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091260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A415-89A0-CA66-9CF3-C9C94456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8DC534-7426-A663-A557-7DBE209853EF}"/>
              </a:ext>
            </a:extLst>
          </p:cNvPr>
          <p:cNvSpPr txBox="1"/>
          <p:nvPr/>
        </p:nvSpPr>
        <p:spPr>
          <a:xfrm>
            <a:off x="842264" y="1327850"/>
            <a:ext cx="5601433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Yu Gothic"/>
                <a:ea typeface="Yu Gothic"/>
                <a:cs typeface="Open Sans"/>
              </a:rPr>
              <a:t>②Problem</a:t>
            </a:r>
          </a:p>
          <a:p>
            <a:endParaRPr lang="ja-JP" altLang="en-US" sz="2000">
              <a:latin typeface="Yu Gothic"/>
              <a:ea typeface="Yu Gothic"/>
              <a:cs typeface="Open Sans"/>
            </a:endParaRPr>
          </a:p>
          <a:p>
            <a:r>
              <a:rPr lang="ja-JP" altLang="en-US" sz="2000" b="1">
                <a:latin typeface="Yu Gothic"/>
                <a:ea typeface="Yu Gothic"/>
                <a:cs typeface="Open Sans"/>
              </a:rPr>
              <a:t>■</a:t>
            </a:r>
            <a:r>
              <a:rPr lang="ja-JP" sz="2000" b="1">
                <a:latin typeface="Yu Gothic"/>
                <a:ea typeface="Yu Gothic"/>
                <a:cs typeface="Open Sans"/>
              </a:rPr>
              <a:t>進捗管理・共有不足</a:t>
            </a:r>
            <a:endParaRPr lang="en-US" sz="2000" b="1">
              <a:latin typeface="Yu Gothic"/>
              <a:ea typeface="Yu Gothic"/>
              <a:cs typeface="Open Sans"/>
            </a:endParaRPr>
          </a:p>
          <a:p>
            <a:r>
              <a:rPr lang="ja-JP" altLang="en-US" sz="2000">
                <a:latin typeface="Yu Gothic"/>
                <a:ea typeface="Yu Gothic"/>
                <a:cs typeface="Open Sans"/>
              </a:rPr>
              <a:t>　</a:t>
            </a:r>
            <a:r>
              <a:rPr lang="ja-JP" altLang="en-US">
                <a:latin typeface="Yu Gothic"/>
                <a:ea typeface="Yu Gothic"/>
                <a:cs typeface="Open Sans"/>
              </a:rPr>
              <a:t>・</a:t>
            </a:r>
            <a:r>
              <a:rPr lang="ja-JP">
                <a:latin typeface="Yu Gothic"/>
                <a:ea typeface="Yu Gothic"/>
                <a:cs typeface="Open Sans"/>
              </a:rPr>
              <a:t>誰が何をしているのか把握できていない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進捗報告がなく状況が不透明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属人的な対応（重い作業の集中、進捗に差）</a:t>
            </a:r>
          </a:p>
          <a:p>
            <a:r>
              <a:rPr lang="ja-JP">
                <a:latin typeface="Yu Gothic"/>
                <a:ea typeface="Yu Gothic"/>
                <a:cs typeface="Open Sans"/>
              </a:rPr>
              <a:t>　</a:t>
            </a:r>
            <a:r>
              <a:rPr lang="ja-JP" altLang="en-US">
                <a:latin typeface="Yu Gothic"/>
                <a:ea typeface="Yu Gothic"/>
                <a:cs typeface="Open Sans"/>
              </a:rPr>
              <a:t>・</a:t>
            </a:r>
            <a:r>
              <a:rPr lang="ja-JP">
                <a:latin typeface="Yu Gothic"/>
                <a:ea typeface="Yu Gothic"/>
                <a:cs typeface="Open Sans"/>
              </a:rPr>
              <a:t>進捗状況が見えず、</a:t>
            </a:r>
            <a:r>
              <a:rPr lang="en-US">
                <a:latin typeface="Yu Gothic"/>
                <a:ea typeface="Yu Gothic"/>
                <a:cs typeface="Open Sans"/>
              </a:rPr>
              <a:t>PM</a:t>
            </a:r>
            <a:r>
              <a:rPr lang="ja-JP">
                <a:latin typeface="Yu Gothic"/>
                <a:ea typeface="Yu Gothic"/>
                <a:cs typeface="Open Sans"/>
              </a:rPr>
              <a:t>として管理できなかった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提出担当が毎回決まっていなかった</a:t>
            </a:r>
            <a:endParaRPr lang="en-US">
              <a:latin typeface="Yu Gothic"/>
              <a:ea typeface="Yu Gothic"/>
            </a:endParaRPr>
          </a:p>
          <a:p>
            <a:r>
              <a:rPr lang="en-US" altLang="ja-JP" sz="2000">
                <a:latin typeface="Yu Gothic"/>
                <a:ea typeface="Yu Gothic"/>
                <a:cs typeface="Open Sans"/>
              </a:rPr>
              <a:t>　</a:t>
            </a:r>
          </a:p>
          <a:p>
            <a:r>
              <a:rPr lang="ja-JP" altLang="en-US" sz="2000" b="1">
                <a:latin typeface="Yu Gothic"/>
                <a:ea typeface="Yu Gothic"/>
                <a:cs typeface="Open Sans"/>
              </a:rPr>
              <a:t>■</a:t>
            </a:r>
            <a:r>
              <a:rPr lang="ja-JP" sz="2000" b="1">
                <a:latin typeface="Yu Gothic"/>
                <a:ea typeface="Yu Gothic"/>
                <a:cs typeface="Open Sans"/>
              </a:rPr>
              <a:t>遅延・納期未達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大幅な進捗遅れ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期限遅れ／一人ひとりの進捗が悪い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</a:t>
            </a:r>
            <a:r>
              <a:rPr lang="ja-JP">
                <a:latin typeface="Yu Gothic"/>
                <a:ea typeface="Yu Gothic"/>
                <a:cs typeface="Open Sans"/>
              </a:rPr>
              <a:t>詳細設計から遅れ始め、機能を削った</a:t>
            </a:r>
          </a:p>
          <a:p>
            <a:r>
              <a:rPr lang="ja-JP" altLang="en-US">
                <a:latin typeface="Yu Gothic"/>
                <a:ea typeface="Yu Gothic"/>
                <a:cs typeface="Open Sans"/>
              </a:rPr>
              <a:t>　・残業が増えた</a:t>
            </a:r>
          </a:p>
          <a:p>
            <a:endParaRPr lang="ja-JP" sz="2000">
              <a:latin typeface="Yu Gothic"/>
              <a:ea typeface="Yu Gothic"/>
              <a:cs typeface="Open Sans"/>
            </a:endParaRPr>
          </a:p>
          <a:p>
            <a:r>
              <a:rPr lang="en-US" sz="2000" b="1">
                <a:latin typeface="Yu Gothic"/>
                <a:ea typeface="Yu Gothic"/>
                <a:cs typeface="Arial"/>
              </a:rPr>
              <a:t>■PM</a:t>
            </a:r>
            <a:r>
              <a:rPr lang="ja-JP" altLang="en-US" sz="2000" b="1">
                <a:latin typeface="Yu Gothic"/>
                <a:ea typeface="Yu Gothic"/>
              </a:rPr>
              <a:t>・リーダー不在／機能していない</a:t>
            </a:r>
            <a:endParaRPr lang="en-US" sz="2000" b="1">
              <a:latin typeface="Yu Gothic"/>
              <a:ea typeface="Yu Gothic"/>
            </a:endParaRPr>
          </a:p>
          <a:p>
            <a:r>
              <a:rPr lang="en-US" sz="2000">
                <a:latin typeface="Yu Gothic"/>
                <a:ea typeface="Yu Gothic"/>
                <a:cs typeface="Arial"/>
              </a:rPr>
              <a:t>　</a:t>
            </a:r>
            <a:r>
              <a:rPr lang="en-US">
                <a:latin typeface="Yu Gothic"/>
                <a:ea typeface="Yu Gothic"/>
                <a:cs typeface="Arial"/>
              </a:rPr>
              <a:t>・PM</a:t>
            </a:r>
            <a:r>
              <a:rPr lang="ja-JP" altLang="en-US">
                <a:latin typeface="Yu Gothic"/>
                <a:ea typeface="Yu Gothic"/>
              </a:rPr>
              <a:t>が不在または機能していない</a:t>
            </a:r>
            <a:endParaRPr lang="en-US">
              <a:latin typeface="Yu Gothic"/>
              <a:ea typeface="Yu Gothic"/>
            </a:endParaRPr>
          </a:p>
          <a:p>
            <a:r>
              <a:rPr lang="ja-JP" altLang="en-US">
                <a:latin typeface="Yu Gothic"/>
                <a:ea typeface="Yu Gothic"/>
              </a:rPr>
              <a:t>　・意思統一ができておらず、指示にずれ</a:t>
            </a:r>
            <a:endParaRPr lang="en-US">
              <a:latin typeface="Yu Gothic"/>
              <a:ea typeface="Yu Gothic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034C8F79-6D22-09D8-E4B7-CB9C12056BE7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５　ふりかえり結果</a:t>
            </a:r>
            <a:endParaRPr lang="en-US" altLang="ja-JP">
              <a:latin typeface="Yu Gothic"/>
              <a:ea typeface="Yu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8C0FA-7135-C267-D1E4-089F055D46C5}"/>
              </a:ext>
            </a:extLst>
          </p:cNvPr>
          <p:cNvSpPr txBox="1"/>
          <p:nvPr/>
        </p:nvSpPr>
        <p:spPr>
          <a:xfrm>
            <a:off x="6093072" y="1326731"/>
            <a:ext cx="678401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000">
              <a:latin typeface="Yu Gothic"/>
              <a:ea typeface="Yu Gothic"/>
            </a:endParaRPr>
          </a:p>
          <a:p>
            <a:endParaRPr lang="ja-JP" altLang="en-US" sz="2000">
              <a:latin typeface="Yu Gothic"/>
              <a:ea typeface="Yu Gothic"/>
            </a:endParaRPr>
          </a:p>
          <a:p>
            <a:r>
              <a:rPr lang="ja-JP" sz="2000" b="1">
                <a:latin typeface="Yu Gothic"/>
                <a:ea typeface="Yu Gothic"/>
              </a:rPr>
              <a:t>■設計・仕様認識の甘さ</a:t>
            </a:r>
            <a:endParaRPr lang="en-US" altLang="ja-JP" b="1"/>
          </a:p>
          <a:p>
            <a:r>
              <a:rPr lang="ja-JP">
                <a:latin typeface="Yu Gothic"/>
                <a:ea typeface="Yu Gothic"/>
              </a:rPr>
              <a:t>　・要件定義の段階で全体像がつかめていなかった</a:t>
            </a:r>
          </a:p>
          <a:p>
            <a:r>
              <a:rPr lang="ja-JP">
                <a:latin typeface="Yu Gothic"/>
                <a:ea typeface="Yu Gothic"/>
              </a:rPr>
              <a:t>　・機能の理解が俗人的／設計と実装の乖離</a:t>
            </a:r>
          </a:p>
          <a:p>
            <a:r>
              <a:rPr lang="ja-JP">
                <a:latin typeface="Yu Gothic"/>
                <a:ea typeface="Yu Gothic"/>
              </a:rPr>
              <a:t>　・カテゴリや検索のメソッドを無視した実装</a:t>
            </a:r>
          </a:p>
          <a:p>
            <a:r>
              <a:rPr lang="ja-JP">
                <a:latin typeface="Yu Gothic"/>
                <a:ea typeface="Yu Gothic"/>
              </a:rPr>
              <a:t>　・フロントバリデーション未実装／スマホ対応不備</a:t>
            </a:r>
          </a:p>
          <a:p>
            <a:r>
              <a:rPr lang="ja-JP">
                <a:latin typeface="Yu Gothic"/>
                <a:ea typeface="Yu Gothic"/>
              </a:rPr>
              <a:t>　・そもそもの理解不足</a:t>
            </a:r>
            <a:br>
              <a:rPr lang="en-US" sz="2000">
                <a:latin typeface="Yu Gothic"/>
                <a:ea typeface="Yu Gothic"/>
              </a:rPr>
            </a:br>
            <a:endParaRPr lang="en-US" sz="2000">
              <a:latin typeface="Yu Gothic"/>
              <a:ea typeface="游ゴシック"/>
            </a:endParaRPr>
          </a:p>
          <a:p>
            <a:r>
              <a:rPr lang="ja-JP" sz="2000" b="1">
                <a:latin typeface="Yu Gothic"/>
                <a:ea typeface="Yu Gothic"/>
              </a:rPr>
              <a:t>■メンターとのコミュニケーション</a:t>
            </a:r>
          </a:p>
          <a:p>
            <a:r>
              <a:rPr lang="ja-JP" sz="2000">
                <a:latin typeface="Yu Gothic"/>
                <a:ea typeface="Yu Gothic"/>
              </a:rPr>
              <a:t>　</a:t>
            </a:r>
            <a:r>
              <a:rPr lang="ja-JP">
                <a:latin typeface="Yu Gothic"/>
                <a:ea typeface="Yu Gothic"/>
              </a:rPr>
              <a:t>・メンターとの認識ずれ</a:t>
            </a:r>
          </a:p>
          <a:p>
            <a:r>
              <a:rPr lang="ja-JP">
                <a:latin typeface="Yu Gothic"/>
                <a:ea typeface="Yu Gothic"/>
              </a:rPr>
              <a:t>　・中間報告を怠ったため、修正が後に響いた</a:t>
            </a:r>
          </a:p>
          <a:p>
            <a:r>
              <a:rPr lang="ja-JP">
                <a:latin typeface="Yu Gothic"/>
                <a:ea typeface="Yu Gothic"/>
              </a:rPr>
              <a:t>　・課題提出形式の認識違い</a:t>
            </a:r>
          </a:p>
          <a:p>
            <a:endParaRPr lang="ja-JP" sz="2000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02103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FD9A-E6B1-2BC1-80F2-F99BC2FC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D380A7-16EA-D941-273A-BC06369327B2}"/>
              </a:ext>
            </a:extLst>
          </p:cNvPr>
          <p:cNvSpPr txBox="1"/>
          <p:nvPr/>
        </p:nvSpPr>
        <p:spPr>
          <a:xfrm>
            <a:off x="842264" y="1327850"/>
            <a:ext cx="8756892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000" b="1">
                <a:latin typeface="Yu Gothic"/>
                <a:ea typeface="游ゴシック"/>
                <a:cs typeface="Open Sans"/>
              </a:rPr>
              <a:t>③Try</a:t>
            </a:r>
          </a:p>
          <a:p>
            <a:endParaRPr lang="ja-JP" altLang="en-US" sz="2000" b="1">
              <a:latin typeface="Yu Gothic"/>
              <a:ea typeface="Yu Gothic"/>
              <a:cs typeface="Open Sans"/>
            </a:endParaRPr>
          </a:p>
          <a:p>
            <a:r>
              <a:rPr lang="en-US" sz="2000" b="1">
                <a:latin typeface="Yu Gothic"/>
                <a:ea typeface="游ゴシック"/>
              </a:rPr>
              <a:t>■ </a:t>
            </a:r>
            <a:r>
              <a:rPr lang="ja-JP" altLang="en-US" sz="2000" b="1">
                <a:latin typeface="Yu Gothic"/>
                <a:ea typeface="Yu Gothic"/>
              </a:rPr>
              <a:t>進捗管理・共有強化</a:t>
            </a:r>
            <a:endParaRPr lang="en-US" sz="2000" b="1">
              <a:latin typeface="Yu Gothic"/>
              <a:ea typeface="Yu Gothic"/>
            </a:endParaRP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オンライン日にも進捗報告し、意識付けを行う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全員のタスクと予定をリスト化する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共通のドキュメントやチャットで進捗共有する</a:t>
            </a:r>
          </a:p>
          <a:p>
            <a:r>
              <a:rPr lang="ja-JP" altLang="en-US" sz="2000">
                <a:latin typeface="Yu Gothic"/>
                <a:ea typeface="Yu Gothic"/>
              </a:rPr>
              <a:t>    </a:t>
            </a:r>
          </a:p>
          <a:p>
            <a:r>
              <a:rPr lang="en-US" sz="2000" b="1">
                <a:latin typeface="Yu Gothic"/>
                <a:ea typeface="游ゴシック"/>
              </a:rPr>
              <a:t>■PM</a:t>
            </a:r>
            <a:r>
              <a:rPr lang="ja-JP" altLang="en-US" sz="2000" b="1">
                <a:latin typeface="Yu Gothic"/>
                <a:ea typeface="Yu Gothic"/>
              </a:rPr>
              <a:t>の明確化／リーダーシップ強化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明確に</a:t>
            </a:r>
            <a:r>
              <a:rPr lang="en-US" sz="2000">
                <a:latin typeface="Yu Gothic"/>
                <a:ea typeface="游ゴシック"/>
              </a:rPr>
              <a:t>PM</a:t>
            </a:r>
            <a:r>
              <a:rPr lang="ja-JP" altLang="en-US" sz="2000">
                <a:latin typeface="Yu Gothic"/>
                <a:ea typeface="Yu Gothic"/>
              </a:rPr>
              <a:t>を一人決める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自分たちだけで判断せず共有・確認を徹底（毎日が理想）</a:t>
            </a:r>
          </a:p>
          <a:p>
            <a:r>
              <a:rPr lang="en-US" sz="2000">
                <a:latin typeface="Yu Gothic"/>
                <a:ea typeface="游ゴシック"/>
              </a:rPr>
              <a:t>  </a:t>
            </a:r>
            <a:endParaRPr lang="en-US" altLang="ja-JP" sz="2000">
              <a:latin typeface="游ゴシック"/>
              <a:ea typeface="游ゴシック"/>
            </a:endParaRPr>
          </a:p>
          <a:p>
            <a:r>
              <a:rPr lang="ja-JP" altLang="en-US" sz="2000" b="1">
                <a:latin typeface="Yu Gothic"/>
                <a:ea typeface="Yu Gothic"/>
              </a:rPr>
              <a:t>■設計・計画の見直しと精度向上</a:t>
            </a:r>
            <a:endParaRPr lang="ja-JP" sz="2000" b="1">
              <a:ea typeface="游ゴシック"/>
            </a:endParaRP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機能に対する労力と時間配分の見積もり精度向上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スコープの適正判断／スコープ外の取り込み検討</a:t>
            </a:r>
          </a:p>
          <a:p>
            <a:r>
              <a:rPr lang="en-US" sz="2000">
                <a:latin typeface="Yu Gothic"/>
                <a:ea typeface="游ゴシック"/>
              </a:rPr>
              <a:t>  ・ </a:t>
            </a:r>
            <a:r>
              <a:rPr lang="ja-JP" altLang="en-US" sz="2000">
                <a:latin typeface="Yu Gothic"/>
                <a:ea typeface="Yu Gothic"/>
              </a:rPr>
              <a:t>課題整合性や網羅性の確認を提出前に徹底</a:t>
            </a:r>
            <a:br>
              <a:rPr lang="en-US" altLang="ja-JP" sz="2000">
                <a:latin typeface="Yu Gothic"/>
              </a:rPr>
            </a:br>
            <a:endParaRPr lang="en-US" altLang="ja-JP" sz="2000">
              <a:latin typeface="Yu Gothic"/>
              <a:ea typeface="游ゴシック"/>
              <a:cs typeface="Open Sans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48422273-8734-0052-4DDB-963890B902AC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５　ふりかえり結果</a:t>
            </a:r>
            <a:endParaRPr lang="en-US" altLang="ja-JP">
              <a:latin typeface="Yu Gothic"/>
              <a:ea typeface="Yu Gothic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D03C415-665D-201E-B73E-1ECB34896E23}"/>
              </a:ext>
            </a:extLst>
          </p:cNvPr>
          <p:cNvSpPr txBox="1"/>
          <p:nvPr/>
        </p:nvSpPr>
        <p:spPr>
          <a:xfrm>
            <a:off x="7772123" y="1897237"/>
            <a:ext cx="441987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latin typeface="游ゴシック"/>
                <a:ea typeface="游ゴシック"/>
              </a:rPr>
              <a:t>■メンター連携強化</a:t>
            </a:r>
            <a:endParaRPr lang="en-US" sz="2000" b="1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 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・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メンターにこまめに質問して</a:t>
            </a:r>
            <a:endParaRPr lang="en-US" altLang="ja-JP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　　手戻りを防ぐ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 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・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状況や意図を伝えて効果的な</a:t>
            </a:r>
            <a:endParaRPr lang="en-US" altLang="ja-JP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　　質問を心がける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 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・</a:t>
            </a:r>
            <a:r>
              <a:rPr lang="en-US" altLang="ja-JP" sz="2000">
                <a:latin typeface="游ゴシック"/>
                <a:ea typeface="游ゴシック"/>
              </a:rPr>
              <a:t> </a:t>
            </a:r>
            <a:r>
              <a:rPr lang="ja-JP" altLang="en-US" sz="2000">
                <a:latin typeface="游ゴシック"/>
                <a:ea typeface="游ゴシック"/>
              </a:rPr>
              <a:t>複数の関係者から意見を得る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6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57B4-036D-9175-9825-BEAB8263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BDB1-F785-4D05-BD89-F9BDAB52A6DC}" type="datetime1">
              <a:rPr lang="en-US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1C0DA-C3D5-0AFD-8456-33C447D9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0F028-2CA9-BAA5-4D36-D298717A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15</a:t>
            </a:fld>
            <a:endParaRPr lang="en-US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3FD659F3-6627-914C-4846-7344B64323CF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游ゴシック"/>
                <a:ea typeface="游ゴシック"/>
              </a:rPr>
              <a:t>５　ふりかえり結果</a:t>
            </a:r>
            <a:endParaRPr lang="en-US" altLang="ja-JP">
              <a:latin typeface="游ゴシック"/>
              <a:ea typeface="游ゴシック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90D99DB-746B-CF75-4A16-9F51A60E090A}"/>
              </a:ext>
            </a:extLst>
          </p:cNvPr>
          <p:cNvSpPr txBox="1"/>
          <p:nvPr/>
        </p:nvSpPr>
        <p:spPr>
          <a:xfrm>
            <a:off x="833471" y="1362775"/>
            <a:ext cx="6462273" cy="40934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游ゴシック"/>
                <a:ea typeface="游ゴシック"/>
                <a:cs typeface="Open Sans"/>
              </a:rPr>
              <a:t>④</a:t>
            </a:r>
            <a:r>
              <a:rPr lang="ja-JP" altLang="en-US" sz="2000" b="1">
                <a:latin typeface="游ゴシック"/>
                <a:ea typeface="游ゴシック"/>
                <a:cs typeface="Open Sans"/>
              </a:rPr>
              <a:t>特に印象的だった点</a:t>
            </a:r>
            <a:endParaRPr lang="en-US" sz="2000" b="1">
              <a:latin typeface="游ゴシック"/>
              <a:ea typeface="游ゴシック"/>
              <a:cs typeface="Open Sans"/>
            </a:endParaRPr>
          </a:p>
          <a:p>
            <a:endParaRPr lang="en-US" sz="2000">
              <a:latin typeface="游ゴシック"/>
              <a:ea typeface="游ゴシック"/>
              <a:cs typeface="Open Sans"/>
            </a:endParaRPr>
          </a:p>
          <a:p>
            <a:r>
              <a:rPr lang="en-US" sz="2000" b="1">
                <a:latin typeface="游ゴシック"/>
                <a:ea typeface="游ゴシック"/>
                <a:cs typeface="Open Sans"/>
              </a:rPr>
              <a:t>■</a:t>
            </a:r>
            <a:r>
              <a:rPr lang="ja-JP" altLang="en-US" sz="2000" b="1">
                <a:latin typeface="游ゴシック"/>
                <a:ea typeface="游ゴシック"/>
              </a:rPr>
              <a:t>成功体験</a:t>
            </a:r>
            <a:endParaRPr lang="en-US" sz="2000" b="1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　・</a:t>
            </a:r>
            <a:r>
              <a:rPr lang="ja-JP" altLang="en-US" sz="2000">
                <a:latin typeface="游ゴシック"/>
                <a:ea typeface="游ゴシック"/>
              </a:rPr>
              <a:t>プログラミングに時間がかかってしまった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　・</a:t>
            </a:r>
            <a:r>
              <a:rPr lang="ja-JP" altLang="en-US" sz="2000">
                <a:latin typeface="游ゴシック"/>
                <a:ea typeface="游ゴシック"/>
              </a:rPr>
              <a:t>ログイン機能の実装ができた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　・</a:t>
            </a:r>
            <a:r>
              <a:rPr lang="ja-JP" altLang="en-US" sz="2000">
                <a:latin typeface="游ゴシック"/>
                <a:ea typeface="游ゴシック"/>
              </a:rPr>
              <a:t>進捗から遅れていたが最終的には追いついた</a:t>
            </a:r>
            <a:endParaRPr lang="en-US" sz="2000">
              <a:latin typeface="游ゴシック"/>
              <a:ea typeface="游ゴシック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latin typeface="游ゴシック"/>
              <a:ea typeface="游ゴシック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latin typeface="游ゴシック"/>
              <a:ea typeface="游ゴシック"/>
            </a:endParaRPr>
          </a:p>
          <a:p>
            <a:r>
              <a:rPr lang="en-US" sz="2000" b="1">
                <a:latin typeface="游ゴシック"/>
                <a:ea typeface="游ゴシック"/>
              </a:rPr>
              <a:t>■</a:t>
            </a:r>
            <a:r>
              <a:rPr lang="ja-JP" altLang="en-US" sz="2000" b="1">
                <a:latin typeface="游ゴシック"/>
                <a:ea typeface="游ゴシック"/>
              </a:rPr>
              <a:t>困難だった点</a:t>
            </a:r>
            <a:endParaRPr lang="en-US" sz="2000" b="1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　・カテゴリ検索機能を</a:t>
            </a:r>
            <a:r>
              <a:rPr lang="en-US" sz="2000">
                <a:latin typeface="游ゴシック"/>
                <a:ea typeface="游ゴシック"/>
              </a:rPr>
              <a:t>DB</a:t>
            </a:r>
            <a:r>
              <a:rPr lang="ja-JP" altLang="en-US" sz="2000">
                <a:latin typeface="游ゴシック"/>
                <a:ea typeface="游ゴシック"/>
              </a:rPr>
              <a:t>含めて実装すること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　・入力のバリデーション実装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　</a:t>
            </a:r>
            <a:r>
              <a:rPr lang="en-US" sz="2000">
                <a:latin typeface="游ゴシック"/>
                <a:ea typeface="游ゴシック"/>
              </a:rPr>
              <a:t>・</a:t>
            </a:r>
            <a:r>
              <a:rPr lang="en-US" sz="2000" err="1">
                <a:latin typeface="游ゴシック"/>
                <a:ea typeface="游ゴシック"/>
              </a:rPr>
              <a:t>Gitブランチの使い方</a:t>
            </a:r>
            <a:endParaRPr lang="en-US" sz="2000">
              <a:latin typeface="游ゴシック"/>
              <a:ea typeface="游ゴシック"/>
            </a:endParaRPr>
          </a:p>
          <a:p>
            <a:r>
              <a:rPr lang="en-US" sz="2000">
                <a:latin typeface="游ゴシック"/>
                <a:ea typeface="游ゴシック"/>
              </a:rPr>
              <a:t>　・ </a:t>
            </a:r>
            <a:r>
              <a:rPr lang="en-US" sz="2000" err="1">
                <a:latin typeface="游ゴシック"/>
                <a:ea typeface="游ゴシック"/>
              </a:rPr>
              <a:t>チームでの進捗管理</a:t>
            </a:r>
            <a:endParaRPr lang="en-US" sz="20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16646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C1E34-5558-9ED2-0653-E98C2FBE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3931D1-AB7C-2B00-3AE2-2A2E8C0050C1}"/>
              </a:ext>
            </a:extLst>
          </p:cNvPr>
          <p:cNvSpPr txBox="1"/>
          <p:nvPr/>
        </p:nvSpPr>
        <p:spPr>
          <a:xfrm>
            <a:off x="842264" y="1435312"/>
            <a:ext cx="995606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latin typeface="游ゴシック"/>
                <a:ea typeface="游ゴシック"/>
              </a:rPr>
              <a:t>⑤チームビルディングやプロジェクト管理で工夫した点</a:t>
            </a:r>
            <a:endParaRPr lang="ja-JP" sz="2000" b="1">
              <a:latin typeface="游ゴシック"/>
              <a:ea typeface="游ゴシック"/>
            </a:endParaRPr>
          </a:p>
          <a:p>
            <a:endParaRPr lang="ja-JP" altLang="en-US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・工程ごとにPMを決めて、皆がPMを経験できるようにした。</a:t>
            </a:r>
            <a:br>
              <a:rPr lang="ja-JP" altLang="en-US" sz="2000">
                <a:latin typeface="游ゴシック"/>
                <a:ea typeface="游ゴシック"/>
              </a:rPr>
            </a:br>
            <a:r>
              <a:rPr lang="en-US" altLang="ja-JP" sz="2000">
                <a:latin typeface="游ゴシック"/>
                <a:ea typeface="游ゴシック"/>
              </a:rPr>
              <a:t>   </a:t>
            </a:r>
            <a:r>
              <a:rPr lang="ja-JP" altLang="en-US" sz="2000">
                <a:latin typeface="游ゴシック"/>
                <a:ea typeface="游ゴシック"/>
              </a:rPr>
              <a:t>⇒方針がぶれてしまい、進めづらく感じることもあった。</a:t>
            </a:r>
          </a:p>
          <a:p>
            <a:endParaRPr lang="ja-JP" altLang="en-US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・前工程と同じ内容（機能）を主に担当した。</a:t>
            </a:r>
            <a:endParaRPr lang="en-US" altLang="ja-JP" sz="2000">
              <a:latin typeface="游ゴシック"/>
              <a:ea typeface="游ゴシック"/>
            </a:endParaRPr>
          </a:p>
          <a:p>
            <a:r>
              <a:rPr lang="en-US" altLang="ja-JP" sz="2000">
                <a:latin typeface="游ゴシック"/>
                <a:ea typeface="游ゴシック"/>
              </a:rPr>
              <a:t>   </a:t>
            </a:r>
            <a:r>
              <a:rPr lang="ja-JP" altLang="en-US" sz="2000">
                <a:latin typeface="游ゴシック"/>
                <a:ea typeface="游ゴシック"/>
              </a:rPr>
              <a:t>⇒一貫した範囲を担当することで、スムーズに進められた。</a:t>
            </a:r>
          </a:p>
          <a:p>
            <a:endParaRPr lang="ja-JP" altLang="en-US" sz="2000">
              <a:latin typeface="游ゴシック"/>
              <a:ea typeface="游ゴシック"/>
            </a:endParaRPr>
          </a:p>
          <a:p>
            <a:r>
              <a:rPr lang="ja-JP" altLang="en-US" sz="2000">
                <a:latin typeface="游ゴシック"/>
                <a:ea typeface="游ゴシック"/>
              </a:rPr>
              <a:t>・テスト工程では、Excelで進捗と作業分担を管理することで分かりやすくなった。</a:t>
            </a:r>
          </a:p>
          <a:p>
            <a:r>
              <a:rPr lang="en-US" altLang="ja-JP" sz="2000">
                <a:latin typeface="Yu Gothic"/>
              </a:rPr>
              <a:t>   </a:t>
            </a:r>
            <a:r>
              <a:rPr lang="ja-JP" altLang="en-US" sz="2000">
                <a:latin typeface="Yu Gothic"/>
              </a:rPr>
              <a:t>⇒都度進捗確認と作業割り振りが可能になった。</a:t>
            </a:r>
            <a:br>
              <a:rPr lang="en-US" altLang="ja-JP" sz="2000">
                <a:latin typeface="Yu Gothic"/>
              </a:rPr>
            </a:br>
            <a:endParaRPr lang="en-US" altLang="ja-JP" sz="2000">
              <a:latin typeface="Yu Gothic"/>
              <a:ea typeface="游ゴシック"/>
              <a:cs typeface="Open Sans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2ABBF7B-6F1D-4A1C-8079-B49098D0D657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５　ふりかえり結果</a:t>
            </a:r>
            <a:endParaRPr lang="en-US" altLang="ja-JP">
              <a:latin typeface="Yu Gothic"/>
              <a:ea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24630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C7105-CB02-1C53-0D03-90EC00BF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61288569-A940-E78B-8593-3B9007153C37}"/>
              </a:ext>
            </a:extLst>
          </p:cNvPr>
          <p:cNvSpPr txBox="1"/>
          <p:nvPr/>
        </p:nvSpPr>
        <p:spPr>
          <a:xfrm>
            <a:off x="402648" y="1329321"/>
            <a:ext cx="6502966" cy="5304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①機能面</a:t>
            </a:r>
          </a:p>
          <a:p>
            <a:endParaRPr lang="ja-JP" altLang="en-US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■納期のためやむなく実装しなかった機能</a:t>
            </a:r>
            <a:endParaRPr lang="ja-JP" altLang="en-US" sz="2000" b="1"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・フロントエンドでのバリデーション</a:t>
            </a: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・注文履歴機能</a:t>
            </a: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・メール配信機能</a:t>
            </a: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・ログ機能</a:t>
            </a: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・管理者機能（商品追加・削除）</a:t>
            </a:r>
          </a:p>
          <a:p>
            <a:endParaRPr lang="ja-JP" altLang="en-US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ea typeface="游ゴシック"/>
                <a:cs typeface="Open Sans"/>
              </a:rPr>
              <a:t>■要件定義書でスコープ外にした機能</a:t>
            </a:r>
          </a:p>
          <a:p>
            <a:r>
              <a:rPr lang="ja-JP" altLang="en-US" sz="2000">
                <a:ea typeface="游ゴシック"/>
                <a:cs typeface="Open Sans"/>
              </a:rPr>
              <a:t>　・クレジットカードやコンビニ支払などの決済方法</a:t>
            </a:r>
          </a:p>
          <a:p>
            <a:r>
              <a:rPr lang="ja-JP" altLang="ja-JP" sz="2000">
                <a:ea typeface="游ゴシック"/>
                <a:cs typeface="Open Sans"/>
              </a:rPr>
              <a:t>　・商品閲覧履歴機能</a:t>
            </a:r>
            <a:endParaRPr lang="ja-JP" altLang="en-US" sz="2000">
              <a:ea typeface="游ゴシック"/>
              <a:cs typeface="Open Sans"/>
            </a:endParaRPr>
          </a:p>
          <a:p>
            <a:r>
              <a:rPr lang="ja-JP" altLang="ja-JP" sz="2000">
                <a:ea typeface="游ゴシック"/>
                <a:cs typeface="Open Sans"/>
              </a:rPr>
              <a:t>　・商品レビュー機能</a:t>
            </a:r>
            <a:endParaRPr lang="ja-JP" altLang="ja-JP" sz="2000"/>
          </a:p>
          <a:p>
            <a:r>
              <a:rPr lang="ja-JP" altLang="ja-JP" sz="2000">
                <a:ea typeface="游ゴシック"/>
                <a:cs typeface="Open Sans"/>
              </a:rPr>
              <a:t>　・在庫切れ時のアラート機能</a:t>
            </a:r>
          </a:p>
          <a:p>
            <a:r>
              <a:rPr lang="en-US" altLang="ja-JP" sz="2000">
                <a:ea typeface="游ゴシック"/>
                <a:cs typeface="Open Sans"/>
              </a:rPr>
              <a:t>　・</a:t>
            </a:r>
            <a:r>
              <a:rPr lang="en-US" altLang="ja-JP" sz="2000" err="1">
                <a:ea typeface="游ゴシック"/>
                <a:cs typeface="Open Sans"/>
              </a:rPr>
              <a:t>セッションを使用しない会員用のカート保持機能</a:t>
            </a:r>
            <a:endParaRPr lang="en-US" altLang="ja-JP" sz="2000">
              <a:ea typeface="游ゴシック"/>
              <a:cs typeface="Open Sans"/>
            </a:endParaRPr>
          </a:p>
          <a:p>
            <a:r>
              <a:rPr lang="ja-JP" altLang="ja-JP" sz="2000">
                <a:ea typeface="游ゴシック"/>
                <a:cs typeface="Open Sans"/>
              </a:rPr>
              <a:t>　・お問い合わせフォーム機能</a:t>
            </a:r>
            <a:endParaRPr lang="ja-JP" altLang="en-US" sz="2000">
              <a:ea typeface="游ゴシック"/>
              <a:cs typeface="Open Sans"/>
            </a:endParaRPr>
          </a:p>
          <a:p>
            <a:endParaRPr lang="ja-JP" altLang="en-US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48BA8739-0908-23FE-7D44-AE971E963529}"/>
              </a:ext>
            </a:extLst>
          </p:cNvPr>
          <p:cNvSpPr txBox="1">
            <a:spLocks/>
          </p:cNvSpPr>
          <p:nvPr/>
        </p:nvSpPr>
        <p:spPr>
          <a:xfrm>
            <a:off x="8382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>
                <a:latin typeface="Yu Gothic"/>
                <a:ea typeface="Yu Gothic"/>
              </a:rPr>
              <a:t>６　今後の改善</a:t>
            </a:r>
            <a:endParaRPr lang="en-US" altLang="ja-JP">
              <a:latin typeface="Yu Gothic"/>
              <a:ea typeface="Yu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EB130-7C18-CD2E-D2FB-C37093696984}"/>
              </a:ext>
            </a:extLst>
          </p:cNvPr>
          <p:cNvSpPr txBox="1"/>
          <p:nvPr/>
        </p:nvSpPr>
        <p:spPr>
          <a:xfrm>
            <a:off x="6713572" y="1329321"/>
            <a:ext cx="494965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②業務面</a:t>
            </a:r>
          </a:p>
          <a:p>
            <a:endParaRPr lang="ja-JP" altLang="en-US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■情報共有</a:t>
            </a:r>
            <a:endParaRPr lang="ja-JP"/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・完成図・書式を共有しておく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・タスクのアサイン前に必要知識の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　確認及びキャッチアップ時間の確保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■進捗管理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</a:t>
            </a:r>
            <a:r>
              <a:rPr lang="en-US" altLang="ja-JP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Teams</a:t>
            </a:r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チャットを活用し、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　進捗の見える化を行う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・中間レビューや報告をスケジュ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　ーリングしておく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r>
              <a:rPr lang="ja-JP" altLang="en-US" sz="2000">
                <a:solidFill>
                  <a:srgbClr val="000000"/>
                </a:solidFill>
                <a:latin typeface="游ゴシック"/>
                <a:ea typeface="游ゴシック"/>
                <a:cs typeface="Open Sans"/>
              </a:rPr>
              <a:t>　・リカバリープランの策定をしておく</a:t>
            </a:r>
            <a:endParaRPr lang="en-US" altLang="ja-JP" sz="2000">
              <a:solidFill>
                <a:srgbClr val="000000"/>
              </a:solidFill>
              <a:latin typeface="游ゴシック"/>
              <a:ea typeface="游ゴシック"/>
              <a:cs typeface="Open Sans"/>
            </a:endParaRPr>
          </a:p>
          <a:p>
            <a:endParaRPr lang="en-US" altLang="ja-JP" sz="2000">
              <a:solidFill>
                <a:srgbClr val="000000"/>
              </a:solidFill>
              <a:latin typeface="Neue Haas Grotesk Text Pro"/>
              <a:ea typeface="游ゴシック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86807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9C147-6D4E-9B87-E7D3-34F20C72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96" y="3133725"/>
            <a:ext cx="928553" cy="58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>
                <a:solidFill>
                  <a:srgbClr val="532620"/>
                </a:solidFill>
                <a:latin typeface="ADLaM Display"/>
                <a:ea typeface="ADLaM Display"/>
                <a:cs typeface="ADLaM Display"/>
              </a:rPr>
              <a:t>Fin</a:t>
            </a:r>
            <a:endParaRPr lang="ja-JP">
              <a:solidFill>
                <a:srgbClr val="532620"/>
              </a:solidFill>
              <a:latin typeface="ADLaM Display"/>
              <a:ea typeface="游ゴシック"/>
              <a:cs typeface="ADLaM Display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9CB11A-71DF-401A-55BB-88D42A46A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C08384-C347-DD56-BE7F-DF5FF534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A2C9B46-A0A1-FCFA-385C-6E2EC2D7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094" y="3050540"/>
            <a:ext cx="896195" cy="739293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4640AE8-52C0-B8E7-6CE6-526EAA17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92" y="3050540"/>
            <a:ext cx="896195" cy="7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8350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VanillaVTI</vt:lpstr>
      <vt:lpstr>   Presentation</vt:lpstr>
      <vt:lpstr>PowerPoint Presentation</vt:lpstr>
      <vt:lpstr>１　プロジェクト概要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４　デモンストレーション </vt:lpstr>
      <vt:lpstr>４　デモンストレーション </vt:lpstr>
      <vt:lpstr>４　デモンストレーション </vt:lpstr>
      <vt:lpstr>４　デモンストレーション</vt:lpstr>
      <vt:lpstr>４　デモンストレーション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MAEDA Shogo(前田 将吾)</dc:creator>
  <cp:revision>69</cp:revision>
  <dcterms:created xsi:type="dcterms:W3CDTF">2025-07-30T05:28:15Z</dcterms:created>
  <dcterms:modified xsi:type="dcterms:W3CDTF">2025-07-31T03:49:45Z</dcterms:modified>
</cp:coreProperties>
</file>